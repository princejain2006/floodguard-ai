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 Bold" charset="1" panose="020F0702030404030204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Calibri (MS)" charset="1" panose="020F0502020204030204"/>
      <p:regular r:id="rId15"/>
    </p:embeddedFont>
    <p:embeddedFont>
      <p:font typeface="ITC Franklin Gothic LT Semi-Bold" charset="1" panose="020B0704030502020204"/>
      <p:regular r:id="rId16"/>
    </p:embeddedFont>
    <p:embeddedFont>
      <p:font typeface="ITC Franklin Gothic LT" charset="1" panose="020B0504030503020204"/>
      <p:regular r:id="rId17"/>
    </p:embeddedFont>
    <p:embeddedFont>
      <p:font typeface="Calibri (MS) Italics" charset="1" panose="020F05020202040A0204"/>
      <p:regular r:id="rId18"/>
    </p:embeddedFont>
    <p:embeddedFont>
      <p:font typeface="Calibri (MS) Bold Italics" charset="1" panose="020F07020304040A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9800" cy="809996"/>
            <a:chOff x="0" y="0"/>
            <a:chExt cx="24386400" cy="1079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6412" cy="1080008"/>
            </a:xfrm>
            <a:custGeom>
              <a:avLst/>
              <a:gdLst/>
              <a:ahLst/>
              <a:cxnLst/>
              <a:rect r="r" b="b" t="t" l="l"/>
              <a:pathLst>
                <a:path h="1080008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1080008"/>
                  </a:lnTo>
                  <a:lnTo>
                    <a:pt x="0" y="1080008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3697" y="2936114"/>
            <a:ext cx="17232173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Edunet Hackathon 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collaboration with 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IBM SkillsBuild on IBM Bob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656237"/>
            <a:ext cx="18289800" cy="324002"/>
            <a:chOff x="0" y="0"/>
            <a:chExt cx="24386400" cy="432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6412" cy="432054"/>
            </a:xfrm>
            <a:custGeom>
              <a:avLst/>
              <a:gdLst/>
              <a:ahLst/>
              <a:cxnLst/>
              <a:rect r="r" b="b" t="t" l="l"/>
              <a:pathLst>
                <a:path h="432054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432054"/>
                  </a:lnTo>
                  <a:lnTo>
                    <a:pt x="0" y="432054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9506" y="3757514"/>
            <a:ext cx="7671486" cy="4156164"/>
            <a:chOff x="0" y="0"/>
            <a:chExt cx="10228648" cy="55415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28698" cy="5541552"/>
            </a:xfrm>
            <a:custGeom>
              <a:avLst/>
              <a:gdLst/>
              <a:ahLst/>
              <a:cxnLst/>
              <a:rect r="r" b="b" t="t" l="l"/>
              <a:pathLst>
                <a:path h="5541552" w="10228698">
                  <a:moveTo>
                    <a:pt x="0" y="0"/>
                  </a:moveTo>
                  <a:lnTo>
                    <a:pt x="10228698" y="0"/>
                  </a:lnTo>
                  <a:lnTo>
                    <a:pt x="10228698" y="5541552"/>
                  </a:lnTo>
                  <a:lnTo>
                    <a:pt x="0" y="55415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228648" cy="556060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>
                <a:lnSpc>
                  <a:spcPts val="2639"/>
                </a:lnSpc>
              </a:pPr>
              <a:r>
                <a:rPr lang="en-US" b="true" sz="21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                           </a:t>
              </a:r>
              <a:r>
                <a:rPr lang="en-US" b="true" sz="2199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  <a:p>
              <a:pPr algn="just">
                <a:lnSpc>
                  <a:spcPts val="2639"/>
                </a:lnSpc>
              </a:pPr>
            </a:p>
            <a:p>
              <a:pPr algn="just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Collect rainfall, weather, drainage, historical flood and citizen-report data.</a:t>
              </a:r>
            </a:p>
            <a:p>
              <a:pPr algn="just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Use ML to predict zone-level flood risk.</a:t>
              </a:r>
            </a:p>
            <a:p>
              <a:pPr algn="just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AI agents analyze risk, drainage, citizen reports and response needs.</a:t>
              </a:r>
            </a:p>
            <a:p>
              <a:pPr algn="just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Evidence Fusion combines signals to prioritize high-risk zones.</a:t>
              </a:r>
            </a:p>
            <a:p>
              <a:pPr algn="just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AI generates response recommendations with Human-in-the-Loop approval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21017" y="3794899"/>
            <a:ext cx="7228452" cy="4126567"/>
            <a:chOff x="0" y="0"/>
            <a:chExt cx="9637936" cy="5502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37986" cy="5502089"/>
            </a:xfrm>
            <a:custGeom>
              <a:avLst/>
              <a:gdLst/>
              <a:ahLst/>
              <a:cxnLst/>
              <a:rect r="r" b="b" t="t" l="l"/>
              <a:pathLst>
                <a:path h="5502089" w="9637986">
                  <a:moveTo>
                    <a:pt x="0" y="0"/>
                  </a:moveTo>
                  <a:lnTo>
                    <a:pt x="9637986" y="0"/>
                  </a:lnTo>
                  <a:lnTo>
                    <a:pt x="9637986" y="5502089"/>
                  </a:lnTo>
                  <a:lnTo>
                    <a:pt x="0" y="550208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637936" cy="552113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340"/>
                </a:lnSpc>
              </a:pP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 and Demonstration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FloodGuard AI transforms urban flood data into actionable decision intelligence</a:t>
              </a:r>
              <a:r>
                <a:rPr lang="en-US" sz="19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Weather &amp; Citizen Reports → ML Risk Prediction → Multi-Agent Analysis → Evidence Fusion → Zone Prioritization → AI Response Recommendation → Human Approval → Audit Trail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system enables explainable, prioritized and data-driven civic response.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0106" y="1623199"/>
            <a:ext cx="1879774" cy="1992358"/>
            <a:chOff x="0" y="0"/>
            <a:chExt cx="2590241" cy="27453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90292" cy="2745415"/>
            </a:xfrm>
            <a:custGeom>
              <a:avLst/>
              <a:gdLst/>
              <a:ahLst/>
              <a:cxnLst/>
              <a:rect r="r" b="b" t="t" l="l"/>
              <a:pathLst>
                <a:path h="2745415" w="2590292">
                  <a:moveTo>
                    <a:pt x="0" y="0"/>
                  </a:moveTo>
                  <a:lnTo>
                    <a:pt x="2590292" y="0"/>
                  </a:lnTo>
                  <a:lnTo>
                    <a:pt x="2590292" y="2745415"/>
                  </a:lnTo>
                  <a:lnTo>
                    <a:pt x="0" y="274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78" t="0" r="-3078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709271" y="1304215"/>
            <a:ext cx="16869468" cy="9422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05423" y="4336666"/>
            <a:ext cx="1949139" cy="2171290"/>
            <a:chOff x="0" y="0"/>
            <a:chExt cx="2598852" cy="28950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98801" cy="2895092"/>
            </a:xfrm>
            <a:custGeom>
              <a:avLst/>
              <a:gdLst/>
              <a:ahLst/>
              <a:cxnLst/>
              <a:rect r="r" b="b" t="t" l="l"/>
              <a:pathLst>
                <a:path h="2895092" w="2598801">
                  <a:moveTo>
                    <a:pt x="0" y="0"/>
                  </a:moveTo>
                  <a:lnTo>
                    <a:pt x="2598801" y="0"/>
                  </a:lnTo>
                  <a:lnTo>
                    <a:pt x="2598801" y="2895092"/>
                  </a:lnTo>
                  <a:lnTo>
                    <a:pt x="0" y="2895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443" t="0" r="-8443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56933" y="7267575"/>
            <a:ext cx="1927136" cy="2146649"/>
            <a:chOff x="0" y="0"/>
            <a:chExt cx="2569515" cy="28621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9464" cy="2862199"/>
            </a:xfrm>
            <a:custGeom>
              <a:avLst/>
              <a:gdLst/>
              <a:ahLst/>
              <a:cxnLst/>
              <a:rect r="r" b="b" t="t" l="l"/>
              <a:pathLst>
                <a:path h="2862199" w="2569464">
                  <a:moveTo>
                    <a:pt x="0" y="0"/>
                  </a:moveTo>
                  <a:lnTo>
                    <a:pt x="2569464" y="0"/>
                  </a:lnTo>
                  <a:lnTo>
                    <a:pt x="2569464" y="2862199"/>
                  </a:lnTo>
                  <a:lnTo>
                    <a:pt x="0" y="2862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99" t="0" r="-1299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1"/>
            <a:ext cx="18289800" cy="230676"/>
            <a:chOff x="0" y="0"/>
            <a:chExt cx="24386400" cy="3075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6412" cy="307594"/>
            </a:xfrm>
            <a:custGeom>
              <a:avLst/>
              <a:gdLst/>
              <a:ahLst/>
              <a:cxnLst/>
              <a:rect r="r" b="b" t="t" l="l"/>
              <a:pathLst>
                <a:path h="307594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307594"/>
                  </a:lnTo>
                  <a:lnTo>
                    <a:pt x="0" y="307594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261" y="10119127"/>
            <a:ext cx="18289800" cy="230676"/>
            <a:chOff x="0" y="0"/>
            <a:chExt cx="24386400" cy="3075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6412" cy="307594"/>
            </a:xfrm>
            <a:custGeom>
              <a:avLst/>
              <a:gdLst/>
              <a:ahLst/>
              <a:cxnLst/>
              <a:rect r="r" b="b" t="t" l="l"/>
              <a:pathLst>
                <a:path h="307594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307594"/>
                  </a:lnTo>
                  <a:lnTo>
                    <a:pt x="0" y="307594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949506" y="8248791"/>
            <a:ext cx="5356911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416" indent="-199708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IBM Bob –</a:t>
            </a:r>
            <a:r>
              <a:rPr lang="en-US" sz="18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AI-assisted development</a:t>
            </a:r>
          </a:p>
          <a:p>
            <a:pPr algn="l" marL="399416" indent="-199708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IBM Granite</a:t>
            </a:r>
            <a:r>
              <a:rPr lang="en-US" sz="18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AI reasoning &amp; recommendations</a:t>
            </a:r>
          </a:p>
          <a:p>
            <a:pPr algn="l" marL="399416" indent="-199708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IBM watsonx</a:t>
            </a:r>
            <a:r>
              <a:rPr lang="en-US" sz="18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Granite AI integration</a:t>
            </a:r>
          </a:p>
          <a:p>
            <a:pPr algn="l" marL="399416" indent="-199708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IBM Cloud</a:t>
            </a:r>
            <a:r>
              <a:rPr lang="en-US" sz="18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Cloud infrastructure</a:t>
            </a:r>
          </a:p>
          <a:p>
            <a:pPr algn="l" marL="399416" indent="-199708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Agentic AI</a:t>
            </a:r>
            <a:r>
              <a:rPr lang="en-US" sz="18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Multi-agent workflow</a:t>
            </a:r>
          </a:p>
          <a:p>
            <a:pPr algn="l" marL="399416" indent="-199708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</a:t>
            </a:r>
            <a:r>
              <a:rPr lang="en-US" sz="18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Flood-risk prediction</a:t>
            </a:r>
          </a:p>
        </p:txBody>
      </p:sp>
      <p:sp>
        <p:nvSpPr>
          <p:cNvPr name="AutoShape 20" id="20"/>
          <p:cNvSpPr/>
          <p:nvPr/>
        </p:nvSpPr>
        <p:spPr>
          <a:xfrm>
            <a:off x="3043363" y="8277366"/>
            <a:ext cx="0" cy="170133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8296897" y="8272915"/>
            <a:ext cx="9520" cy="1671326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3043363" y="8272915"/>
            <a:ext cx="5263054" cy="445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>
            <a:off x="3033835" y="9944241"/>
            <a:ext cx="5307299" cy="1403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75193" y="6546056"/>
            <a:ext cx="265345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75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Alka Raikwar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74" y="3690124"/>
            <a:ext cx="265345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0"/>
              </a:lnSpc>
            </a:pPr>
            <a:r>
              <a:rPr lang="en-US" sz="20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Prince Jain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9807" y="399917"/>
            <a:ext cx="1325260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74173"/>
                </a:solidFill>
                <a:latin typeface="Arial Bold"/>
                <a:ea typeface="Arial Bold"/>
                <a:cs typeface="Arial Bold"/>
                <a:sym typeface="Arial Bold"/>
              </a:rPr>
              <a:t>Team : FloodGuard AI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33835" y="1366381"/>
            <a:ext cx="1534182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74173"/>
                </a:solidFill>
                <a:latin typeface="Arial Bold"/>
                <a:ea typeface="Arial Bold"/>
                <a:cs typeface="Arial Bold"/>
                <a:sym typeface="Arial Bold"/>
              </a:rPr>
              <a:t>Project: Project: FloodGuard AI – Agentic AI-Powered Urban Flood Intelligence &amp; Disaster Response System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43363" y="2243039"/>
            <a:ext cx="15046306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Need of Project:</a:t>
            </a:r>
            <a:r>
              <a:rPr lang="en-US" sz="2400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Urban flooding in Ahmedabad and Surat is intensified by heavy rainfall, drainage constraints, low-lying areas and delayed civic response. FloodGuard AI provides early flood-risk intelligence by combining weather data, ML predictions, drainage information and citizen reports to generate explainable and prioritized response recommendations.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261" y="751734"/>
            <a:ext cx="4023971" cy="36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  <a:spcBef>
                <a:spcPct val="0"/>
              </a:spcBef>
            </a:pPr>
            <a:r>
              <a:rPr lang="en-US" b="true" sz="2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Institute : Parul University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81763" y="7866053"/>
            <a:ext cx="176164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b="true" sz="195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IBM TOOLS USED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73167" y="8939353"/>
            <a:ext cx="88717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  <a:spcBef>
                <a:spcPct val="0"/>
              </a:spcBef>
            </a:pPr>
            <a:r>
              <a:rPr lang="en-US" b="true" sz="18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“FloodGuard AI doesn't just predict flooding — it converts evidence into prioritized action.”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71732" y="9547574"/>
            <a:ext cx="208515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b="true" sz="19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Aniket Jaiswal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53063" y="1747739"/>
            <a:ext cx="675283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b="true" sz="2349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“A Gujarat-built solution for a Gujarat problem”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9800" cy="809996"/>
            <a:chOff x="0" y="0"/>
            <a:chExt cx="24386400" cy="1079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6412" cy="1080008"/>
            </a:xfrm>
            <a:custGeom>
              <a:avLst/>
              <a:gdLst/>
              <a:ahLst/>
              <a:cxnLst/>
              <a:rect r="r" b="b" t="t" l="l"/>
              <a:pathLst>
                <a:path h="1080008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1080008"/>
                  </a:lnTo>
                  <a:lnTo>
                    <a:pt x="0" y="1080008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9435" y="60046"/>
            <a:ext cx="16557117" cy="62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Development with IBM Bob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69996" y="971998"/>
            <a:ext cx="5670004" cy="2592000"/>
            <a:chOff x="0" y="0"/>
            <a:chExt cx="7560005" cy="345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60056" cy="3456051"/>
            </a:xfrm>
            <a:custGeom>
              <a:avLst/>
              <a:gdLst/>
              <a:ahLst/>
              <a:cxnLst/>
              <a:rect r="r" b="b" t="t" l="l"/>
              <a:pathLst>
                <a:path h="3456051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3456051"/>
                  </a:lnTo>
                  <a:lnTo>
                    <a:pt x="0" y="34560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469440" y="1078097"/>
            <a:ext cx="5271116" cy="3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 REQUIREMENTS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9440" y="1519618"/>
            <a:ext cx="52711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Defined FloodGuard AI’s urban flooding problem, functional requirements, six-agent architecture, data inputs and expected outcomes with IBM Bob.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17999" y="971998"/>
            <a:ext cx="5670004" cy="2592000"/>
            <a:chOff x="0" y="0"/>
            <a:chExt cx="7560005" cy="34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60056" cy="3456051"/>
            </a:xfrm>
            <a:custGeom>
              <a:avLst/>
              <a:gdLst/>
              <a:ahLst/>
              <a:cxnLst/>
              <a:rect r="r" b="b" t="t" l="l"/>
              <a:pathLst>
                <a:path h="3456051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3456051"/>
                  </a:lnTo>
                  <a:lnTo>
                    <a:pt x="0" y="34560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517443" y="1078097"/>
            <a:ext cx="5271116" cy="3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 BOB CREATES PLAN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7443" y="1519618"/>
            <a:ext cx="52711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Used Bob to analyze the existing codebase and plan the implementation of ML prediction, agent workflows, dashboard modules and AI-assisted decision support.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66003" y="971998"/>
            <a:ext cx="5670004" cy="2592000"/>
            <a:chOff x="0" y="0"/>
            <a:chExt cx="7560005" cy="345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60056" cy="3456051"/>
            </a:xfrm>
            <a:custGeom>
              <a:avLst/>
              <a:gdLst/>
              <a:ahLst/>
              <a:cxnLst/>
              <a:rect r="r" b="b" t="t" l="l"/>
              <a:pathLst>
                <a:path h="3456051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3456051"/>
                  </a:lnTo>
                  <a:lnTo>
                    <a:pt x="0" y="34560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565437" y="1078097"/>
            <a:ext cx="5271116" cy="3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 REVIEW &amp; REFINE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65437" y="1519618"/>
            <a:ext cx="52711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eviewed Bob’s proposed approach as a team, refined requirements and protected the existing architecture before implementation.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69996" y="3888000"/>
            <a:ext cx="5670004" cy="2592000"/>
            <a:chOff x="0" y="0"/>
            <a:chExt cx="7560005" cy="345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60056" cy="3456051"/>
            </a:xfrm>
            <a:custGeom>
              <a:avLst/>
              <a:gdLst/>
              <a:ahLst/>
              <a:cxnLst/>
              <a:rect r="r" b="b" t="t" l="l"/>
              <a:pathLst>
                <a:path h="3456051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3456051"/>
                  </a:lnTo>
                  <a:lnTo>
                    <a:pt x="0" y="34560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69440" y="3994099"/>
            <a:ext cx="5271116" cy="3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 CODE GENERATION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9440" y="4435621"/>
            <a:ext cx="52711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Bob assisted in implementing Python/Streamlit components, ML workflows, agent logic, UI modules and supporting application functionality.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17999" y="3888000"/>
            <a:ext cx="5670004" cy="2592000"/>
            <a:chOff x="0" y="0"/>
            <a:chExt cx="7560005" cy="345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60056" cy="3456051"/>
            </a:xfrm>
            <a:custGeom>
              <a:avLst/>
              <a:gdLst/>
              <a:ahLst/>
              <a:cxnLst/>
              <a:rect r="r" b="b" t="t" l="l"/>
              <a:pathLst>
                <a:path h="3456051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3456051"/>
                  </a:lnTo>
                  <a:lnTo>
                    <a:pt x="0" y="34560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517443" y="3994099"/>
            <a:ext cx="5271116" cy="3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 REVIEW OUTPUT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17443" y="4435621"/>
            <a:ext cx="52711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Team-reviewed Bob-assisted changes for correctness, integration, usability and consistency with FloodGuard AI’s six-agent architecture.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66003" y="3888000"/>
            <a:ext cx="5670004" cy="2592000"/>
            <a:chOff x="0" y="0"/>
            <a:chExt cx="7560005" cy="3456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60056" cy="3456051"/>
            </a:xfrm>
            <a:custGeom>
              <a:avLst/>
              <a:gdLst/>
              <a:ahLst/>
              <a:cxnLst/>
              <a:rect r="r" b="b" t="t" l="l"/>
              <a:pathLst>
                <a:path h="3456051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3456051"/>
                  </a:lnTo>
                  <a:lnTo>
                    <a:pt x="0" y="34560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565437" y="3994099"/>
            <a:ext cx="5271116" cy="3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  RUN &amp; VALIDATE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65437" y="4435621"/>
            <a:ext cx="52711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Ran the application and validated flood-risk prediction, weather inputs, citizen reports, dashboard workflows and AI-generated recommendations.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0" y="9503997"/>
            <a:ext cx="18289800" cy="324002"/>
            <a:chOff x="0" y="0"/>
            <a:chExt cx="24386400" cy="4320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6412" cy="432054"/>
            </a:xfrm>
            <a:custGeom>
              <a:avLst/>
              <a:gdLst/>
              <a:ahLst/>
              <a:cxnLst/>
              <a:rect r="r" b="b" t="t" l="l"/>
              <a:pathLst>
                <a:path h="432054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432054"/>
                  </a:lnTo>
                  <a:lnTo>
                    <a:pt x="0" y="432054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69996" y="6804003"/>
            <a:ext cx="5670004" cy="2429999"/>
            <a:chOff x="0" y="0"/>
            <a:chExt cx="7560005" cy="3239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60056" cy="3240024"/>
            </a:xfrm>
            <a:custGeom>
              <a:avLst/>
              <a:gdLst/>
              <a:ahLst/>
              <a:cxnLst/>
              <a:rect r="r" b="b" t="t" l="l"/>
              <a:pathLst>
                <a:path h="3240024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3240024"/>
                  </a:lnTo>
                  <a:lnTo>
                    <a:pt x="0" y="32400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469440" y="6910092"/>
            <a:ext cx="5271116" cy="3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  BOB EXPLAINS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69440" y="7351624"/>
            <a:ext cx="52711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Used Bob to understand existing modules, implementation decisions, code relationships and the reasoning behind development changes.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317999" y="6804003"/>
            <a:ext cx="5670004" cy="2429999"/>
            <a:chOff x="0" y="0"/>
            <a:chExt cx="7560005" cy="32399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60056" cy="3240024"/>
            </a:xfrm>
            <a:custGeom>
              <a:avLst/>
              <a:gdLst/>
              <a:ahLst/>
              <a:cxnLst/>
              <a:rect r="r" b="b" t="t" l="l"/>
              <a:pathLst>
                <a:path h="3240024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3240024"/>
                  </a:lnTo>
                  <a:lnTo>
                    <a:pt x="0" y="32400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6517443" y="6910092"/>
            <a:ext cx="5271116" cy="3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  QUALITY &amp; TESTS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17443" y="7351624"/>
            <a:ext cx="52711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Used iterative review and testing to identify issues, validate edge cases and improve the reliability of application and AI workflows.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66003" y="6804003"/>
            <a:ext cx="5670004" cy="2429999"/>
            <a:chOff x="0" y="0"/>
            <a:chExt cx="7560005" cy="323999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60056" cy="3240024"/>
            </a:xfrm>
            <a:custGeom>
              <a:avLst/>
              <a:gdLst/>
              <a:ahLst/>
              <a:cxnLst/>
              <a:rect r="r" b="b" t="t" l="l"/>
              <a:pathLst>
                <a:path h="3240024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3240024"/>
                  </a:lnTo>
                  <a:lnTo>
                    <a:pt x="0" y="32400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565437" y="6910092"/>
            <a:ext cx="5271116" cy="3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  DOCUMENTATION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65437" y="7351624"/>
            <a:ext cx="5271116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Used Bob to support technical documentation, code explanations, project understanding and preparation of development evidence.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IBM Bob assisted the FloodGuard AI team across the SDLC; the team reviewed, refined, validated and approved each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9800" cy="809996"/>
            <a:chOff x="0" y="0"/>
            <a:chExt cx="24386400" cy="1079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6412" cy="1080008"/>
            </a:xfrm>
            <a:custGeom>
              <a:avLst/>
              <a:gdLst/>
              <a:ahLst/>
              <a:cxnLst/>
              <a:rect r="r" b="b" t="t" l="l"/>
              <a:pathLst>
                <a:path h="1080008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1080008"/>
                  </a:lnTo>
                  <a:lnTo>
                    <a:pt x="0" y="1080008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03997"/>
            <a:ext cx="18289800" cy="324002"/>
            <a:chOff x="0" y="0"/>
            <a:chExt cx="24386400" cy="4320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6412" cy="432054"/>
            </a:xfrm>
            <a:custGeom>
              <a:avLst/>
              <a:gdLst/>
              <a:ahLst/>
              <a:cxnLst/>
              <a:rect r="r" b="b" t="t" l="l"/>
              <a:pathLst>
                <a:path h="432054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432054"/>
                  </a:lnTo>
                  <a:lnTo>
                    <a:pt x="0" y="432054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898974"/>
            <a:ext cx="8556533" cy="5146096"/>
          </a:xfrm>
          <a:custGeom>
            <a:avLst/>
            <a:gdLst/>
            <a:ahLst/>
            <a:cxnLst/>
            <a:rect r="r" b="b" t="t" l="l"/>
            <a:pathLst>
              <a:path h="5146096" w="8556533">
                <a:moveTo>
                  <a:pt x="0" y="0"/>
                </a:moveTo>
                <a:lnTo>
                  <a:pt x="8556533" y="0"/>
                </a:lnTo>
                <a:lnTo>
                  <a:pt x="8556533" y="5146096"/>
                </a:lnTo>
                <a:lnTo>
                  <a:pt x="0" y="514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89" t="-312" r="-1295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45598" y="2898974"/>
            <a:ext cx="9642402" cy="5146096"/>
          </a:xfrm>
          <a:custGeom>
            <a:avLst/>
            <a:gdLst/>
            <a:ahLst/>
            <a:cxnLst/>
            <a:rect r="r" b="b" t="t" l="l"/>
            <a:pathLst>
              <a:path h="5146096" w="9642402">
                <a:moveTo>
                  <a:pt x="0" y="0"/>
                </a:moveTo>
                <a:lnTo>
                  <a:pt x="9642402" y="0"/>
                </a:lnTo>
                <a:lnTo>
                  <a:pt x="9642402" y="5146096"/>
                </a:lnTo>
                <a:lnTo>
                  <a:pt x="0" y="5146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42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9435" y="60046"/>
            <a:ext cx="894655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IBM Bob — FloodGuard AI Development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9440" y="1078097"/>
            <a:ext cx="48453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IBM Bob — FloodGuard AI Project 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9440" y="1618097"/>
            <a:ext cx="834912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5555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Screenshot: FloodGuard AI project structure showing Streamlit application files, AI agents, ML modules, dashboard components and configuration.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7443" y="1078097"/>
            <a:ext cx="484048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IBM Bob — FloodGuard AI Code Generation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7443" y="1618097"/>
            <a:ext cx="834912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Screenshot: IBM Bob assisting with ML flood-risk prediction, AI-agent workflows and Streamlit dashboard components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9800" cy="809996"/>
            <a:chOff x="0" y="0"/>
            <a:chExt cx="24386400" cy="1079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6412" cy="1080008"/>
            </a:xfrm>
            <a:custGeom>
              <a:avLst/>
              <a:gdLst/>
              <a:ahLst/>
              <a:cxnLst/>
              <a:rect r="r" b="b" t="t" l="l"/>
              <a:pathLst>
                <a:path h="1080008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1080008"/>
                  </a:lnTo>
                  <a:lnTo>
                    <a:pt x="0" y="1080008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9435" y="60046"/>
            <a:ext cx="577357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</a:t>
            </a: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Features of FloodGuard AI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69996" y="971998"/>
            <a:ext cx="8640004" cy="8262004"/>
            <a:chOff x="0" y="0"/>
            <a:chExt cx="11520005" cy="110160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20043" cy="11015980"/>
            </a:xfrm>
            <a:custGeom>
              <a:avLst/>
              <a:gdLst/>
              <a:ahLst/>
              <a:cxnLst/>
              <a:rect r="r" b="b" t="t" l="l"/>
              <a:pathLst>
                <a:path h="11015980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11015980"/>
                  </a:lnTo>
                  <a:lnTo>
                    <a:pt x="0" y="110159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469440" y="1078097"/>
            <a:ext cx="8187118" cy="38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MULTI-AGENT AI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9440" y="1627622"/>
            <a:ext cx="818711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s</a:t>
            </a:r>
            <a:r>
              <a:rPr lang="en-US" sz="214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pecialized AI agents collaborate through an orchestrated workflow to analyze flood risk, drainage conditions, citizen reports and civic response requirements.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87438" y="7488322"/>
            <a:ext cx="431492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i="true">
                <a:solidFill>
                  <a:srgbClr val="1F386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b="true" sz="2099" i="true">
                <a:solidFill>
                  <a:srgbClr val="1F3864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RISK-TO-ACTION INTELLIGENCE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87999" y="971998"/>
            <a:ext cx="4157996" cy="3941997"/>
            <a:chOff x="0" y="0"/>
            <a:chExt cx="5543994" cy="52559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44058" cy="5256022"/>
            </a:xfrm>
            <a:custGeom>
              <a:avLst/>
              <a:gdLst/>
              <a:ahLst/>
              <a:cxnLst/>
              <a:rect r="r" b="b" t="t" l="l"/>
              <a:pathLst>
                <a:path h="5256022" w="5544058">
                  <a:moveTo>
                    <a:pt x="0" y="0"/>
                  </a:moveTo>
                  <a:lnTo>
                    <a:pt x="5544058" y="0"/>
                  </a:lnTo>
                  <a:lnTo>
                    <a:pt x="5544058" y="5256022"/>
                  </a:lnTo>
                  <a:lnTo>
                    <a:pt x="0" y="52560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87443" y="1087622"/>
            <a:ext cx="375911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FLOOD RISK 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7443" y="1627622"/>
            <a:ext cx="395855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ML models analyze rainfall, weather and historical flood indicators to identify and predict zone-level flood risk for early decision support.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824004" y="971998"/>
            <a:ext cx="4157996" cy="3941997"/>
            <a:chOff x="0" y="0"/>
            <a:chExt cx="5543994" cy="52559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44058" cy="5256022"/>
            </a:xfrm>
            <a:custGeom>
              <a:avLst/>
              <a:gdLst/>
              <a:ahLst/>
              <a:cxnLst/>
              <a:rect r="r" b="b" t="t" l="l"/>
              <a:pathLst>
                <a:path h="5256022" w="5544058">
                  <a:moveTo>
                    <a:pt x="0" y="0"/>
                  </a:moveTo>
                  <a:lnTo>
                    <a:pt x="5544058" y="0"/>
                  </a:lnTo>
                  <a:lnTo>
                    <a:pt x="5544058" y="5256022"/>
                  </a:lnTo>
                  <a:lnTo>
                    <a:pt x="0" y="52560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023438" y="1087622"/>
            <a:ext cx="375911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CITIZEN FLOOD REPORTING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23438" y="1627622"/>
            <a:ext cx="375911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Citizen-submitted reports provide ground-level evidence about flooding, affected areas and severity, helping the system improve situational awareness.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88004" y="5454842"/>
            <a:ext cx="4157996" cy="1772759"/>
            <a:chOff x="0" y="0"/>
            <a:chExt cx="5543994" cy="23636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44058" cy="2363704"/>
            </a:xfrm>
            <a:custGeom>
              <a:avLst/>
              <a:gdLst/>
              <a:ahLst/>
              <a:cxnLst/>
              <a:rect r="r" b="b" t="t" l="l"/>
              <a:pathLst>
                <a:path h="2363704" w="5544058">
                  <a:moveTo>
                    <a:pt x="0" y="0"/>
                  </a:moveTo>
                  <a:lnTo>
                    <a:pt x="5544058" y="0"/>
                  </a:lnTo>
                  <a:lnTo>
                    <a:pt x="5544058" y="2363704"/>
                  </a:lnTo>
                  <a:lnTo>
                    <a:pt x="0" y="23637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487438" y="5037820"/>
            <a:ext cx="375911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DRAINAGE PRIORITIZATION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87438" y="5731621"/>
            <a:ext cx="395855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Combines flood-risk information, drainage conditions and reported incidents to identify drainage issues and prioritize areas requiring attention.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676352" y="5373423"/>
            <a:ext cx="4157996" cy="1935596"/>
            <a:chOff x="0" y="0"/>
            <a:chExt cx="5543994" cy="25807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44058" cy="2580820"/>
            </a:xfrm>
            <a:custGeom>
              <a:avLst/>
              <a:gdLst/>
              <a:ahLst/>
              <a:cxnLst/>
              <a:rect r="r" b="b" t="t" l="l"/>
              <a:pathLst>
                <a:path h="2580820" w="5544058">
                  <a:moveTo>
                    <a:pt x="0" y="0"/>
                  </a:moveTo>
                  <a:lnTo>
                    <a:pt x="5544058" y="0"/>
                  </a:lnTo>
                  <a:lnTo>
                    <a:pt x="5544058" y="2580820"/>
                  </a:lnTo>
                  <a:lnTo>
                    <a:pt x="0" y="25808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075231" y="4902975"/>
            <a:ext cx="375911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EVIDENCE FUSION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26995" y="5689635"/>
            <a:ext cx="375911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Combines weather signals, ML predictions, drainage information and citizen evidence to prioritize high-risk zones with explainable reasoning.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0" y="9503997"/>
            <a:ext cx="18289800" cy="324002"/>
            <a:chOff x="0" y="0"/>
            <a:chExt cx="24386400" cy="4320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6412" cy="432054"/>
            </a:xfrm>
            <a:custGeom>
              <a:avLst/>
              <a:gdLst/>
              <a:ahLst/>
              <a:cxnLst/>
              <a:rect r="r" b="b" t="t" l="l"/>
              <a:pathLst>
                <a:path h="432054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432054"/>
                  </a:lnTo>
                  <a:lnTo>
                    <a:pt x="0" y="432054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487438" y="8186597"/>
            <a:ext cx="561928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Converts prioritized flood risks into actionable AI recommendations for civic response, with Human-in-the-Loop approval for critical decisions.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8413" y="8086585"/>
            <a:ext cx="914282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  <a:spcBef>
                <a:spcPct val="0"/>
              </a:spcBef>
            </a:pPr>
            <a:r>
              <a:rPr lang="en-US" b="true" sz="18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FloodGuard AI goes beyond flood prediction by combining multiple evidence sources to generate explainable, prioritized and actionable response intelligence.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9800" cy="809996"/>
            <a:chOff x="0" y="0"/>
            <a:chExt cx="24386400" cy="1079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6412" cy="1080008"/>
            </a:xfrm>
            <a:custGeom>
              <a:avLst/>
              <a:gdLst/>
              <a:ahLst/>
              <a:cxnLst/>
              <a:rect r="r" b="b" t="t" l="l"/>
              <a:pathLst>
                <a:path h="1080008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1080008"/>
                  </a:lnTo>
                  <a:lnTo>
                    <a:pt x="0" y="1080008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9435" y="60046"/>
            <a:ext cx="16557117" cy="62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Novelty &amp; Future Scope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69996" y="971998"/>
            <a:ext cx="8640004" cy="431997"/>
            <a:chOff x="0" y="0"/>
            <a:chExt cx="11520005" cy="5759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20043" cy="575945"/>
            </a:xfrm>
            <a:custGeom>
              <a:avLst/>
              <a:gdLst/>
              <a:ahLst/>
              <a:cxnLst/>
              <a:rect r="r" b="b" t="t" l="l"/>
              <a:pathLst>
                <a:path h="575945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575945"/>
                  </a:lnTo>
                  <a:lnTo>
                    <a:pt x="0" y="575945"/>
                  </a:lnTo>
                  <a:close/>
                </a:path>
              </a:pathLst>
            </a:custGeom>
            <a:solidFill>
              <a:srgbClr val="2D59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520005" cy="62362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NOVELTY &amp; UNIQUENESS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9996" y="1511998"/>
            <a:ext cx="8640004" cy="1782004"/>
            <a:chOff x="0" y="0"/>
            <a:chExt cx="11520005" cy="23760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20043" cy="2376043"/>
            </a:xfrm>
            <a:custGeom>
              <a:avLst/>
              <a:gdLst/>
              <a:ahLst/>
              <a:cxnLst/>
              <a:rect r="r" b="b" t="t" l="l"/>
              <a:pathLst>
                <a:path h="2376043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2376043"/>
                  </a:lnTo>
                  <a:lnTo>
                    <a:pt x="0" y="23760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69440" y="1591094"/>
            <a:ext cx="312455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</a:t>
            </a: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lti-Agent Flood Intelligence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9440" y="2032616"/>
            <a:ext cx="818711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s</a:t>
            </a: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pecialized agents collaborate to analyze flood risk, drainage, citizen reports and civic response requirements.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9996" y="3456003"/>
            <a:ext cx="8640004" cy="1782004"/>
            <a:chOff x="0" y="0"/>
            <a:chExt cx="11520005" cy="23760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20043" cy="2376043"/>
            </a:xfrm>
            <a:custGeom>
              <a:avLst/>
              <a:gdLst/>
              <a:ahLst/>
              <a:cxnLst/>
              <a:rect r="r" b="b" t="t" l="l"/>
              <a:pathLst>
                <a:path h="2376043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2376043"/>
                  </a:lnTo>
                  <a:lnTo>
                    <a:pt x="0" y="23760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69440" y="3535099"/>
            <a:ext cx="348353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Evidence-Based Risk </a:t>
            </a: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Prioritization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440" y="3976621"/>
            <a:ext cx="818711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Combines ML p</a:t>
            </a: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redictions, weather signals, drainage information and citizen evidence to identify high-risk zones.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69996" y="5399999"/>
            <a:ext cx="8640004" cy="1782004"/>
            <a:chOff x="0" y="0"/>
            <a:chExt cx="11520005" cy="23760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20043" cy="2376043"/>
            </a:xfrm>
            <a:custGeom>
              <a:avLst/>
              <a:gdLst/>
              <a:ahLst/>
              <a:cxnLst/>
              <a:rect r="r" b="b" t="t" l="l"/>
              <a:pathLst>
                <a:path h="2376043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2376043"/>
                  </a:lnTo>
                  <a:lnTo>
                    <a:pt x="0" y="23760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69440" y="5479094"/>
            <a:ext cx="34410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Explainable AI Recommendations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9440" y="5920616"/>
            <a:ext cx="818711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Pro</a:t>
            </a: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vides reasons behind risk prioritization and generates understandable response recommendations instead of only giving predictions.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69996" y="7344004"/>
            <a:ext cx="8640004" cy="1782004"/>
            <a:chOff x="0" y="0"/>
            <a:chExt cx="11520005" cy="23760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520043" cy="2376043"/>
            </a:xfrm>
            <a:custGeom>
              <a:avLst/>
              <a:gdLst/>
              <a:ahLst/>
              <a:cxnLst/>
              <a:rect r="r" b="b" t="t" l="l"/>
              <a:pathLst>
                <a:path h="2376043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2376043"/>
                  </a:lnTo>
                  <a:lnTo>
                    <a:pt x="0" y="23760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69440" y="7423099"/>
            <a:ext cx="30556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Huma</a:t>
            </a: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n-in-the-Loop Response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9440" y="7864621"/>
            <a:ext cx="818711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AI r</a:t>
            </a: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ecommendations are reviewed by humans before critical actions, keeping decision-making under civic authority.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87999" y="971998"/>
            <a:ext cx="8640004" cy="431997"/>
            <a:chOff x="0" y="0"/>
            <a:chExt cx="11520005" cy="5759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520043" cy="575945"/>
            </a:xfrm>
            <a:custGeom>
              <a:avLst/>
              <a:gdLst/>
              <a:ahLst/>
              <a:cxnLst/>
              <a:rect r="r" b="b" t="t" l="l"/>
              <a:pathLst>
                <a:path h="575945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575945"/>
                  </a:lnTo>
                  <a:lnTo>
                    <a:pt x="0" y="575945"/>
                  </a:lnTo>
                  <a:close/>
                </a:path>
              </a:pathLst>
            </a:custGeom>
            <a:solidFill>
              <a:srgbClr val="1F386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1520005" cy="62362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87999" y="1511998"/>
            <a:ext cx="8640004" cy="1782004"/>
            <a:chOff x="0" y="0"/>
            <a:chExt cx="11520005" cy="23760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20043" cy="2376043"/>
            </a:xfrm>
            <a:custGeom>
              <a:avLst/>
              <a:gdLst/>
              <a:ahLst/>
              <a:cxnLst/>
              <a:rect r="r" b="b" t="t" l="l"/>
              <a:pathLst>
                <a:path h="2376043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2376043"/>
                  </a:lnTo>
                  <a:lnTo>
                    <a:pt x="0" y="23760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487443" y="1591094"/>
            <a:ext cx="298918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</a:t>
            </a: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al-Time Sensor Integration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87443" y="2032616"/>
            <a:ext cx="818711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onnect live water-level, rainfall and drainage sensors to strengthen real-time flood monitoring and prediction.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87999" y="3456003"/>
            <a:ext cx="8640004" cy="1782004"/>
            <a:chOff x="0" y="0"/>
            <a:chExt cx="11520005" cy="23760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20043" cy="2376043"/>
            </a:xfrm>
            <a:custGeom>
              <a:avLst/>
              <a:gdLst/>
              <a:ahLst/>
              <a:cxnLst/>
              <a:rect r="r" b="b" t="t" l="l"/>
              <a:pathLst>
                <a:path h="2376043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2376043"/>
                  </a:lnTo>
                  <a:lnTo>
                    <a:pt x="0" y="23760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487443" y="3535099"/>
            <a:ext cx="288333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Flood Forecasting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87443" y="3976621"/>
            <a:ext cx="818711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mprove prediction using larger historical datasets, real-time weather feeds and advanced ML models.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87999" y="5399999"/>
            <a:ext cx="8640004" cy="1782004"/>
            <a:chOff x="0" y="0"/>
            <a:chExt cx="11520005" cy="237600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520043" cy="2376043"/>
            </a:xfrm>
            <a:custGeom>
              <a:avLst/>
              <a:gdLst/>
              <a:ahLst/>
              <a:cxnLst/>
              <a:rect r="r" b="b" t="t" l="l"/>
              <a:pathLst>
                <a:path h="2376043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2376043"/>
                  </a:lnTo>
                  <a:lnTo>
                    <a:pt x="0" y="23760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487443" y="5479094"/>
            <a:ext cx="291500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GIS-Based Flood Intelligence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87443" y="5920616"/>
            <a:ext cx="818711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Expa</a:t>
            </a: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nd geospatial analysis to provide more detailed flood-risk maps, drainage hotspots and affected-zone visualization.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87999" y="7344004"/>
            <a:ext cx="8640004" cy="1782004"/>
            <a:chOff x="0" y="0"/>
            <a:chExt cx="11520005" cy="237600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20043" cy="2376043"/>
            </a:xfrm>
            <a:custGeom>
              <a:avLst/>
              <a:gdLst/>
              <a:ahLst/>
              <a:cxnLst/>
              <a:rect r="r" b="b" t="t" l="l"/>
              <a:pathLst>
                <a:path h="2376043" w="11520043">
                  <a:moveTo>
                    <a:pt x="0" y="0"/>
                  </a:moveTo>
                  <a:lnTo>
                    <a:pt x="11520043" y="0"/>
                  </a:lnTo>
                  <a:lnTo>
                    <a:pt x="11520043" y="2376043"/>
                  </a:lnTo>
                  <a:lnTo>
                    <a:pt x="0" y="23760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487443" y="7423099"/>
            <a:ext cx="337292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Scalable Civic Response Platform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87443" y="7864621"/>
            <a:ext cx="818711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Extend FloodGuard AI to more flood-prone cities and integrate with civic response teams for faster incident coordination.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0" y="9503997"/>
            <a:ext cx="18289800" cy="324002"/>
            <a:chOff x="0" y="0"/>
            <a:chExt cx="24386400" cy="4320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86412" cy="432054"/>
            </a:xfrm>
            <a:custGeom>
              <a:avLst/>
              <a:gdLst/>
              <a:ahLst/>
              <a:cxnLst/>
              <a:rect r="r" b="b" t="t" l="l"/>
              <a:pathLst>
                <a:path h="432054" w="24386412">
                  <a:moveTo>
                    <a:pt x="0" y="0"/>
                  </a:moveTo>
                  <a:lnTo>
                    <a:pt x="24386412" y="0"/>
                  </a:lnTo>
                  <a:lnTo>
                    <a:pt x="24386412" y="432054"/>
                  </a:lnTo>
                  <a:lnTo>
                    <a:pt x="0" y="432054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2575335" y="8940270"/>
            <a:ext cx="1177730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Vision: From Predictive Flood Intelligence to Real-Time, Explainable and Coordinated Urban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DAHWHJ9-C7M</dc:identifier>
  <dcterms:modified xsi:type="dcterms:W3CDTF">2011-08-01T06:04:30Z</dcterms:modified>
  <cp:revision>1</cp:revision>
  <dc:title>DOC-20260924-WA0020.pptx</dc:title>
</cp:coreProperties>
</file>