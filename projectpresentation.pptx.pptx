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50"/>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Lst>
  <p:sldSz cx="18288000" cy="10287000"/>
  <p:notesSz cx="6858000" cy="9144000"/>
  <p:embeddedFontLst>
    <p:embeddedFont>
      <p:font typeface="Calibri (MS) Bold" charset="1" panose="020F0702030404030204"/>
      <p:regular r:id="rId48"/>
    </p:embeddedFont>
    <p:embeddedFont>
      <p:font typeface="Calibri (MS) Bold Italics" charset="1" panose="020F07020304040A0204"/>
      <p:regular r:id="rId49"/>
    </p:embeddedFont>
    <p:embeddedFont>
      <p:font typeface="Arial" charset="1" panose="020B0604020202020204"/>
      <p:regular r:id="rId53"/>
    </p:embeddedFont>
    <p:embeddedFont>
      <p:font typeface="Arimo" charset="1" panose="020B0604020202020204"/>
      <p:regular r:id="rId54"/>
    </p:embeddedFont>
    <p:embeddedFont>
      <p:font typeface="Arial Bold" charset="1" panose="020B0704020202020204"/>
      <p:regular r:id="rId55"/>
    </p:embeddedFont>
    <p:embeddedFont>
      <p:font typeface="Canva Sans" charset="1" panose="020B0503030501040103"/>
      <p:regular r:id="rId58"/>
    </p:embeddedFont>
    <p:embeddedFont>
      <p:font typeface="Canva Sans Bold" charset="1" panose="020B0803030501040103"/>
      <p:regular r:id="rId59"/>
    </p:embeddedFont>
    <p:embeddedFont>
      <p:font typeface="Times New Roman Bold" charset="1" panose="02020803070505020304"/>
      <p:regular r:id="rId63"/>
    </p:embeddedFont>
    <p:embeddedFont>
      <p:font typeface="Times New Roman" charset="1" panose="02020603050405020304"/>
      <p:regular r:id="rId6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50" Target="notesMasters/notesMaster1.xml" Type="http://schemas.openxmlformats.org/officeDocument/2006/relationships/notesMaster"/><Relationship Id="rId51" Target="theme/theme2.xml" Type="http://schemas.openxmlformats.org/officeDocument/2006/relationships/theme"/><Relationship Id="rId52" Target="notesSlides/notesSlide1.xml" Type="http://schemas.openxmlformats.org/officeDocument/2006/relationships/notesSlide"/><Relationship Id="rId53" Target="fonts/font53.fntdata" Type="http://schemas.openxmlformats.org/officeDocument/2006/relationships/font"/><Relationship Id="rId54" Target="fonts/font54.fntdata" Type="http://schemas.openxmlformats.org/officeDocument/2006/relationships/font"/><Relationship Id="rId55" Target="fonts/font55.fntdata" Type="http://schemas.openxmlformats.org/officeDocument/2006/relationships/font"/><Relationship Id="rId56" Target="notesSlides/notesSlide2.xml" Type="http://schemas.openxmlformats.org/officeDocument/2006/relationships/notesSlide"/><Relationship Id="rId57" Target="notesSlides/notesSlide3.xml" Type="http://schemas.openxmlformats.org/officeDocument/2006/relationships/notesSlide"/><Relationship Id="rId58" Target="fonts/font58.fntdata" Type="http://schemas.openxmlformats.org/officeDocument/2006/relationships/font"/><Relationship Id="rId59" Target="fonts/font59.fntdata" Type="http://schemas.openxmlformats.org/officeDocument/2006/relationships/font"/><Relationship Id="rId6" Target="slides/slide1.xml" Type="http://schemas.openxmlformats.org/officeDocument/2006/relationships/slide"/><Relationship Id="rId60" Target="notesSlides/notesSlide4.xml" Type="http://schemas.openxmlformats.org/officeDocument/2006/relationships/notesSlide"/><Relationship Id="rId61" Target="notesSlides/notesSlide5.xml" Type="http://schemas.openxmlformats.org/officeDocument/2006/relationships/notesSlide"/><Relationship Id="rId62" Target="notesSlides/notesSlide6.xml" Type="http://schemas.openxmlformats.org/officeDocument/2006/relationships/notesSlide"/><Relationship Id="rId63" Target="fonts/font63.fntdata" Type="http://schemas.openxmlformats.org/officeDocument/2006/relationships/font"/><Relationship Id="rId64" Target="fonts/font64.fntdata" Type="http://schemas.openxmlformats.org/officeDocument/2006/relationships/font"/><Relationship Id="rId65" Target="notesSlides/notesSlide7.xml" Type="http://schemas.openxmlformats.org/officeDocument/2006/relationships/notesSlide"/><Relationship Id="rId66" Target="notesSlides/notesSlide8.xml" Type="http://schemas.openxmlformats.org/officeDocument/2006/relationships/notesSlide"/><Relationship Id="rId67" Target="notesSlides/notesSlide9.xml" Type="http://schemas.openxmlformats.org/officeDocument/2006/relationships/notesSlide"/><Relationship Id="rId68" Target="notesSlides/notesSlide10.xml" Type="http://schemas.openxmlformats.org/officeDocument/2006/relationships/note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2.jpe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7.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https://github.com/PrinceJain2006/floodguard-ai?utm_source=chatgpt.com" TargetMode="External" Type="http://schemas.openxmlformats.org/officeDocument/2006/relationships/hyperlink"/><Relationship Id="rId4" Target="https://github.com/PrinceJain2006/floodguard-ai" TargetMode="External" Type="http://schemas.openxmlformats.org/officeDocument/2006/relationships/hyperlink"/></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png" Type="http://schemas.openxmlformats.org/officeDocument/2006/relationships/image"/><Relationship Id="rId4" Target="../media/image37.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 Id="rId3" Target="../media/image39.png" Type="http://schemas.openxmlformats.org/officeDocument/2006/relationships/image"/><Relationship Id="rId4" Target="../media/image40.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4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81292" y="984518"/>
            <a:ext cx="14951726" cy="4451933"/>
            <a:chOff x="0" y="0"/>
            <a:chExt cx="21031200" cy="6262119"/>
          </a:xfrm>
        </p:grpSpPr>
        <p:sp>
          <p:nvSpPr>
            <p:cNvPr name="Freeform 3" id="3"/>
            <p:cNvSpPr/>
            <p:nvPr/>
          </p:nvSpPr>
          <p:spPr>
            <a:xfrm flipH="false" flipV="false" rot="0">
              <a:off x="0" y="0"/>
              <a:ext cx="21031200" cy="6262118"/>
            </a:xfrm>
            <a:custGeom>
              <a:avLst/>
              <a:gdLst/>
              <a:ahLst/>
              <a:cxnLst/>
              <a:rect r="r" b="b" t="t" l="l"/>
              <a:pathLst>
                <a:path h="6262118" w="21031200">
                  <a:moveTo>
                    <a:pt x="0" y="0"/>
                  </a:moveTo>
                  <a:lnTo>
                    <a:pt x="21031200" y="0"/>
                  </a:lnTo>
                  <a:lnTo>
                    <a:pt x="21031200" y="6262118"/>
                  </a:lnTo>
                  <a:lnTo>
                    <a:pt x="0" y="6262118"/>
                  </a:lnTo>
                  <a:close/>
                </a:path>
              </a:pathLst>
            </a:custGeom>
            <a:blipFill>
              <a:blip r:embed="rId2">
                <a:alphaModFix amt="0"/>
              </a:blip>
              <a:stretch>
                <a:fillRect l="0" t="-19884" r="0" b="-10995"/>
              </a:stretch>
            </a:blipFill>
          </p:spPr>
        </p:sp>
        <p:sp>
          <p:nvSpPr>
            <p:cNvPr name="TextBox 4" id="4"/>
            <p:cNvSpPr txBox="true"/>
            <p:nvPr/>
          </p:nvSpPr>
          <p:spPr>
            <a:xfrm>
              <a:off x="0" y="-66675"/>
              <a:ext cx="21031200" cy="6328794"/>
            </a:xfrm>
            <a:prstGeom prst="rect">
              <a:avLst/>
            </a:prstGeom>
          </p:spPr>
          <p:txBody>
            <a:bodyPr anchor="b" rtlCol="false" tIns="0" lIns="0" bIns="0" rIns="0"/>
            <a:lstStyle/>
            <a:p>
              <a:pPr algn="ctr">
                <a:lnSpc>
                  <a:spcPts val="7884"/>
                </a:lnSpc>
              </a:pPr>
              <a:r>
                <a:rPr lang="en-US" sz="7300" b="true">
                  <a:solidFill>
                    <a:srgbClr val="000000"/>
                  </a:solidFill>
                  <a:latin typeface="Calibri (MS) Bold"/>
                  <a:ea typeface="Calibri (MS) Bold"/>
                  <a:cs typeface="Calibri (MS) Bold"/>
                  <a:sym typeface="Calibri (MS) Bold"/>
                </a:rPr>
                <a:t>IBM SkillsBuild Bob Hackathon Showcase – Gujarat, 2026</a:t>
              </a:r>
            </a:p>
          </p:txBody>
        </p:sp>
      </p:grpSp>
      <p:sp>
        <p:nvSpPr>
          <p:cNvPr name="TextBox 5" id="5"/>
          <p:cNvSpPr txBox="true"/>
          <p:nvPr/>
        </p:nvSpPr>
        <p:spPr>
          <a:xfrm rot="0">
            <a:off x="2307574" y="5417401"/>
            <a:ext cx="15590549" cy="1045464"/>
          </a:xfrm>
          <a:prstGeom prst="rect">
            <a:avLst/>
          </a:prstGeom>
        </p:spPr>
        <p:txBody>
          <a:bodyPr anchor="t" rtlCol="false" tIns="0" lIns="0" bIns="0" rIns="0">
            <a:spAutoFit/>
          </a:bodyPr>
          <a:lstStyle/>
          <a:p>
            <a:pPr algn="l">
              <a:lnSpc>
                <a:spcPts val="3888"/>
              </a:lnSpc>
            </a:pPr>
            <a:r>
              <a:rPr lang="en-US" sz="3600" i="true" b="true">
                <a:solidFill>
                  <a:srgbClr val="888888"/>
                </a:solidFill>
                <a:latin typeface="Calibri (MS) Bold Italics"/>
                <a:ea typeface="Calibri (MS) Bold Italics"/>
                <a:cs typeface="Calibri (MS) Bold Italics"/>
                <a:sym typeface="Calibri (MS) Bold Italics"/>
              </a:rPr>
              <a:t>“Exploring the Power of Agentic AI with IBM Granite and IBM Bob”</a:t>
            </a:r>
          </a:p>
          <a:p>
            <a:pPr algn="l">
              <a:lnSpc>
                <a:spcPts val="3888"/>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028700" y="3118492"/>
          <a:ext cx="16230600" cy="3178955"/>
        </p:xfrm>
        <a:graphic>
          <a:graphicData uri="http://schemas.openxmlformats.org/drawingml/2006/table">
            <a:tbl>
              <a:tblPr/>
              <a:tblGrid>
                <a:gridCol w="3572471"/>
                <a:gridCol w="4219376"/>
                <a:gridCol w="4219376"/>
                <a:gridCol w="4219376"/>
              </a:tblGrid>
              <a:tr h="1611230">
                <a:tc>
                  <a:txBody>
                    <a:bodyPr anchor="t" rtlCol="false"/>
                    <a:lstStyle/>
                    <a:p>
                      <a:pPr algn="ctr">
                        <a:lnSpc>
                          <a:spcPts val="3240"/>
                        </a:lnSpc>
                        <a:defRPr/>
                      </a:pPr>
                      <a:r>
                        <a:rPr lang="en-US" sz="2700">
                          <a:solidFill>
                            <a:srgbClr val="000000"/>
                          </a:solidFill>
                          <a:latin typeface="Arial"/>
                          <a:ea typeface="Arial"/>
                          <a:cs typeface="Arial"/>
                          <a:sym typeface="Arial"/>
                        </a:rPr>
                        <a:t>Student Name</a:t>
                      </a:r>
                      <a:endParaRPr lang="en-US" sz="1100"/>
                    </a:p>
                  </a:txBody>
                  <a:tcPr marL="76200" marR="76200" marT="76200" marB="7620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5B9BD5"/>
                    </a:solidFill>
                  </a:tcPr>
                </a:tc>
                <a:tc>
                  <a:txBody>
                    <a:bodyPr anchor="t" rtlCol="false"/>
                    <a:lstStyle/>
                    <a:p>
                      <a:pPr algn="ctr">
                        <a:lnSpc>
                          <a:spcPts val="3240"/>
                        </a:lnSpc>
                        <a:defRPr/>
                      </a:pPr>
                      <a:r>
                        <a:rPr lang="en-US" sz="2700">
                          <a:solidFill>
                            <a:srgbClr val="000000"/>
                          </a:solidFill>
                          <a:latin typeface="Arial"/>
                          <a:ea typeface="Arial"/>
                          <a:cs typeface="Arial"/>
                          <a:sym typeface="Arial"/>
                        </a:rPr>
                        <a:t>Recent Passport Photo</a:t>
                      </a:r>
                      <a:endParaRPr lang="en-US" sz="1100"/>
                    </a:p>
                  </a:txBody>
                  <a:tcPr marL="76200" marR="76200" marT="76200" marB="7620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5B9BD5"/>
                    </a:solidFill>
                  </a:tcPr>
                </a:tc>
                <a:tc>
                  <a:txBody>
                    <a:bodyPr anchor="t" rtlCol="false"/>
                    <a:lstStyle/>
                    <a:p>
                      <a:pPr algn="ctr">
                        <a:lnSpc>
                          <a:spcPts val="3240"/>
                        </a:lnSpc>
                        <a:defRPr/>
                      </a:pPr>
                      <a:r>
                        <a:rPr lang="en-US" sz="2700">
                          <a:solidFill>
                            <a:srgbClr val="000000"/>
                          </a:solidFill>
                          <a:latin typeface="Arial"/>
                          <a:ea typeface="Arial"/>
                          <a:cs typeface="Arial"/>
                          <a:sym typeface="Arial"/>
                        </a:rPr>
                        <a:t>Email ID </a:t>
                      </a:r>
                      <a:endParaRPr lang="en-US" sz="1100"/>
                    </a:p>
                  </a:txBody>
                  <a:tcPr marL="76200" marR="76200" marT="76200" marB="7620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5B9BD5"/>
                    </a:solidFill>
                  </a:tcPr>
                </a:tc>
                <a:tc>
                  <a:txBody>
                    <a:bodyPr anchor="t" rtlCol="false"/>
                    <a:lstStyle/>
                    <a:p>
                      <a:pPr algn="ctr">
                        <a:lnSpc>
                          <a:spcPts val="3240"/>
                        </a:lnSpc>
                        <a:defRPr/>
                      </a:pPr>
                      <a:r>
                        <a:rPr lang="en-US" sz="2700">
                          <a:solidFill>
                            <a:srgbClr val="000000"/>
                          </a:solidFill>
                          <a:latin typeface="Arial"/>
                          <a:ea typeface="Arial"/>
                          <a:cs typeface="Arial"/>
                          <a:sym typeface="Arial"/>
                        </a:rPr>
                        <a:t>Mobile number</a:t>
                      </a:r>
                      <a:endParaRPr lang="en-US" sz="1100"/>
                    </a:p>
                    <a:p>
                      <a:pPr algn="ctr">
                        <a:lnSpc>
                          <a:spcPts val="3240"/>
                        </a:lnSpc>
                      </a:pPr>
                      <a:r>
                        <a:rPr lang="en-US" sz="2700">
                          <a:solidFill>
                            <a:srgbClr val="000000"/>
                          </a:solidFill>
                          <a:latin typeface="Arial"/>
                          <a:ea typeface="Arial"/>
                          <a:cs typeface="Arial"/>
                          <a:sym typeface="Arial"/>
                        </a:rPr>
                        <a:t>[WhatsApp] </a:t>
                      </a:r>
                    </a:p>
                  </a:txBody>
                  <a:tcPr marL="76200" marR="76200" marT="76200" marB="7620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5B9BD5"/>
                    </a:solidFill>
                  </a:tcPr>
                </a:tc>
              </a:tr>
              <a:tr h="1567725">
                <a:tc>
                  <a:txBody>
                    <a:bodyPr anchor="t" rtlCol="false"/>
                    <a:lstStyle/>
                    <a:p>
                      <a:pPr algn="l">
                        <a:lnSpc>
                          <a:spcPts val="3499"/>
                        </a:lnSpc>
                        <a:defRPr/>
                      </a:pPr>
                      <a:r>
                        <a:rPr lang="en-US" sz="2499">
                          <a:solidFill>
                            <a:srgbClr val="000000"/>
                          </a:solidFill>
                          <a:latin typeface="Arimo"/>
                          <a:ea typeface="Arimo"/>
                          <a:cs typeface="Arimo"/>
                          <a:sym typeface="Arimo"/>
                        </a:rPr>
                        <a:t>      Prince Jain</a:t>
                      </a:r>
                      <a:endParaRPr lang="en-US" sz="1100"/>
                    </a:p>
                  </a:txBody>
                  <a:tcPr marL="76200" marR="76200" marT="76200" marB="7620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D0DEEF"/>
                    </a:solidFill>
                  </a:tcPr>
                </a:tc>
                <a:tc>
                  <a:txBody>
                    <a:bodyPr anchor="t" rtlCol="false"/>
                    <a:lstStyle/>
                    <a:p>
                      <a:pPr algn="l">
                        <a:lnSpc>
                          <a:spcPts val="3499"/>
                        </a:lnSpc>
                        <a:defRPr/>
                      </a:pPr>
                      <a:endParaRPr lang="en-US" sz="1100"/>
                    </a:p>
                  </a:txBody>
                  <a:tcPr marL="76200" marR="76200" marT="76200" marB="7620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D0DEEF"/>
                    </a:solidFill>
                  </a:tcPr>
                </a:tc>
                <a:tc>
                  <a:txBody>
                    <a:bodyPr anchor="t" rtlCol="false"/>
                    <a:lstStyle/>
                    <a:p>
                      <a:pPr algn="l">
                        <a:lnSpc>
                          <a:spcPts val="3079"/>
                        </a:lnSpc>
                        <a:defRPr/>
                      </a:pPr>
                      <a:r>
                        <a:rPr lang="en-US" sz="2199">
                          <a:solidFill>
                            <a:srgbClr val="000000"/>
                          </a:solidFill>
                          <a:latin typeface="Arimo"/>
                          <a:ea typeface="Arimo"/>
                          <a:cs typeface="Arimo"/>
                          <a:sym typeface="Arimo"/>
                        </a:rPr>
                        <a:t> Princejjain566@gmail.com</a:t>
                      </a:r>
                      <a:endParaRPr lang="en-US" sz="1100"/>
                    </a:p>
                  </a:txBody>
                  <a:tcPr marL="76200" marR="76200" marT="76200" marB="7620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D0DEEF"/>
                    </a:solidFill>
                  </a:tcPr>
                </a:tc>
                <a:tc>
                  <a:txBody>
                    <a:bodyPr anchor="t" rtlCol="false"/>
                    <a:lstStyle/>
                    <a:p>
                      <a:pPr algn="l">
                        <a:lnSpc>
                          <a:spcPts val="3219"/>
                        </a:lnSpc>
                        <a:defRPr/>
                      </a:pPr>
                      <a:r>
                        <a:rPr lang="en-US" sz="2299">
                          <a:solidFill>
                            <a:srgbClr val="000000"/>
                          </a:solidFill>
                          <a:latin typeface="Arimo"/>
                          <a:ea typeface="Arimo"/>
                          <a:cs typeface="Arimo"/>
                          <a:sym typeface="Arimo"/>
                        </a:rPr>
                        <a:t>    9753995851</a:t>
                      </a:r>
                      <a:endParaRPr lang="en-US" sz="1100"/>
                    </a:p>
                  </a:txBody>
                  <a:tcPr marL="76200" marR="76200" marT="76200" marB="7620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D0DEEF"/>
                    </a:solidFill>
                  </a:tcPr>
                </a:tc>
              </a:tr>
            </a:tbl>
          </a:graphicData>
        </a:graphic>
      </p:graphicFrame>
      <p:grpSp>
        <p:nvGrpSpPr>
          <p:cNvPr name="Group 3" id="3"/>
          <p:cNvGrpSpPr/>
          <p:nvPr/>
        </p:nvGrpSpPr>
        <p:grpSpPr>
          <a:xfrm rot="0">
            <a:off x="5786113" y="4919567"/>
            <a:ext cx="1428114" cy="1218622"/>
            <a:chOff x="0" y="0"/>
            <a:chExt cx="1879293" cy="1603616"/>
          </a:xfrm>
        </p:grpSpPr>
        <p:sp>
          <p:nvSpPr>
            <p:cNvPr name="Freeform 4" id="4"/>
            <p:cNvSpPr/>
            <p:nvPr/>
          </p:nvSpPr>
          <p:spPr>
            <a:xfrm flipH="false" flipV="false" rot="0">
              <a:off x="0" y="0"/>
              <a:ext cx="1879306" cy="1603629"/>
            </a:xfrm>
            <a:custGeom>
              <a:avLst/>
              <a:gdLst/>
              <a:ahLst/>
              <a:cxnLst/>
              <a:rect r="r" b="b" t="t" l="l"/>
              <a:pathLst>
                <a:path h="1603629" w="1879306">
                  <a:moveTo>
                    <a:pt x="0" y="0"/>
                  </a:moveTo>
                  <a:lnTo>
                    <a:pt x="1879306" y="0"/>
                  </a:lnTo>
                  <a:lnTo>
                    <a:pt x="1879306" y="1603629"/>
                  </a:lnTo>
                  <a:lnTo>
                    <a:pt x="0" y="1603629"/>
                  </a:lnTo>
                  <a:lnTo>
                    <a:pt x="0" y="0"/>
                  </a:lnTo>
                  <a:close/>
                </a:path>
              </a:pathLst>
            </a:custGeom>
            <a:blipFill>
              <a:blip r:embed="rId3"/>
              <a:stretch>
                <a:fillRect l="0" t="-6579" r="0" b="-10611"/>
              </a:stretch>
            </a:blipFill>
          </p:spPr>
        </p:sp>
      </p:grpSp>
      <p:graphicFrame>
        <p:nvGraphicFramePr>
          <p:cNvPr name="Table 5" id="5"/>
          <p:cNvGraphicFramePr>
            <a:graphicFrameLocks noGrp="true"/>
          </p:cNvGraphicFramePr>
          <p:nvPr/>
        </p:nvGraphicFramePr>
        <p:xfrm>
          <a:off x="1031875" y="6297446"/>
          <a:ext cx="16227425" cy="2234958"/>
        </p:xfrm>
        <a:graphic>
          <a:graphicData uri="http://schemas.openxmlformats.org/drawingml/2006/table">
            <a:tbl>
              <a:tblPr/>
              <a:tblGrid>
                <a:gridCol w="3571772"/>
                <a:gridCol w="4218551"/>
                <a:gridCol w="4218551"/>
                <a:gridCol w="4218551"/>
              </a:tblGrid>
              <a:tr h="1541275">
                <a:tc>
                  <a:txBody>
                    <a:bodyPr anchor="t" rtlCol="false"/>
                    <a:lstStyle/>
                    <a:p>
                      <a:pPr algn="l">
                        <a:lnSpc>
                          <a:spcPts val="3499"/>
                        </a:lnSpc>
                        <a:defRPr/>
                      </a:pPr>
                      <a:r>
                        <a:rPr lang="en-US" sz="2499">
                          <a:solidFill>
                            <a:srgbClr val="000000"/>
                          </a:solidFill>
                          <a:latin typeface="Arimo"/>
                          <a:ea typeface="Arimo"/>
                          <a:cs typeface="Arimo"/>
                          <a:sym typeface="Arimo"/>
                        </a:rPr>
                        <a:t>      Alka Raikwar </a:t>
                      </a:r>
                      <a:endParaRPr lang="en-US" sz="1100"/>
                    </a:p>
                  </a:txBody>
                  <a:tcPr marL="76200" marR="76200" marT="76200" marB="7620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D0DEEF"/>
                    </a:solidFill>
                  </a:tcPr>
                </a:tc>
                <a:tc>
                  <a:txBody>
                    <a:bodyPr anchor="t" rtlCol="false"/>
                    <a:lstStyle/>
                    <a:p>
                      <a:pPr algn="l">
                        <a:lnSpc>
                          <a:spcPts val="3499"/>
                        </a:lnSpc>
                        <a:defRPr/>
                      </a:pPr>
                      <a:endParaRPr lang="en-US" sz="1100"/>
                    </a:p>
                  </a:txBody>
                  <a:tcPr marL="76200" marR="76200" marT="76200" marB="7620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D0DEEF"/>
                    </a:solidFill>
                  </a:tcPr>
                </a:tc>
                <a:tc>
                  <a:txBody>
                    <a:bodyPr anchor="t" rtlCol="false"/>
                    <a:lstStyle/>
                    <a:p>
                      <a:pPr algn="l">
                        <a:lnSpc>
                          <a:spcPts val="3079"/>
                        </a:lnSpc>
                        <a:defRPr/>
                      </a:pPr>
                      <a:r>
                        <a:rPr lang="en-US" sz="2199">
                          <a:solidFill>
                            <a:srgbClr val="000000"/>
                          </a:solidFill>
                          <a:latin typeface="Arimo"/>
                          <a:ea typeface="Arimo"/>
                          <a:cs typeface="Arimo"/>
                          <a:sym typeface="Arimo"/>
                        </a:rPr>
                        <a:t> alkaraikbar755@gamil.com</a:t>
                      </a:r>
                      <a:endParaRPr lang="en-US" sz="1100"/>
                    </a:p>
                  </a:txBody>
                  <a:tcPr marL="76200" marR="76200" marT="76200" marB="7620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D0DEEF"/>
                    </a:solidFill>
                  </a:tcPr>
                </a:tc>
                <a:tc>
                  <a:txBody>
                    <a:bodyPr anchor="t" rtlCol="false"/>
                    <a:lstStyle/>
                    <a:p>
                      <a:pPr algn="l">
                        <a:lnSpc>
                          <a:spcPts val="3219"/>
                        </a:lnSpc>
                        <a:defRPr/>
                      </a:pPr>
                      <a:r>
                        <a:rPr lang="en-US" sz="2299">
                          <a:solidFill>
                            <a:srgbClr val="000000"/>
                          </a:solidFill>
                          <a:latin typeface="Arimo"/>
                          <a:ea typeface="Arimo"/>
                          <a:cs typeface="Arimo"/>
                          <a:sym typeface="Arimo"/>
                        </a:rPr>
                        <a:t>    6207020293</a:t>
                      </a:r>
                      <a:endParaRPr lang="en-US" sz="1100"/>
                    </a:p>
                  </a:txBody>
                  <a:tcPr marL="76200" marR="76200" marT="76200" marB="7620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D0DEEF"/>
                    </a:solidFill>
                  </a:tcPr>
                </a:tc>
              </a:tr>
              <a:tr h="693684">
                <a:tc>
                  <a:txBody>
                    <a:bodyPr anchor="t" rtlCol="false"/>
                    <a:lstStyle/>
                    <a:p>
                      <a:pPr algn="l">
                        <a:lnSpc>
                          <a:spcPts val="3499"/>
                        </a:lnSpc>
                        <a:defRPr/>
                      </a:pPr>
                      <a:endParaRPr lang="en-US" sz="1100"/>
                    </a:p>
                  </a:txBody>
                  <a:tcPr marL="76200" marR="76200" marT="76200" marB="7620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D0DEEF"/>
                    </a:solidFill>
                  </a:tcPr>
                </a:tc>
                <a:tc>
                  <a:txBody>
                    <a:bodyPr anchor="t" rtlCol="false"/>
                    <a:lstStyle/>
                    <a:p>
                      <a:pPr algn="l">
                        <a:lnSpc>
                          <a:spcPts val="3499"/>
                        </a:lnSpc>
                        <a:defRPr/>
                      </a:pPr>
                      <a:endParaRPr lang="en-US" sz="1100"/>
                    </a:p>
                  </a:txBody>
                  <a:tcPr marL="76200" marR="76200" marT="76200" marB="7620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D0DEEF"/>
                    </a:solidFill>
                  </a:tcPr>
                </a:tc>
                <a:tc>
                  <a:txBody>
                    <a:bodyPr anchor="t" rtlCol="false"/>
                    <a:lstStyle/>
                    <a:p>
                      <a:pPr algn="l">
                        <a:lnSpc>
                          <a:spcPts val="3079"/>
                        </a:lnSpc>
                        <a:defRPr/>
                      </a:pPr>
                      <a:endParaRPr lang="en-US" sz="1100"/>
                    </a:p>
                  </a:txBody>
                  <a:tcPr marL="76200" marR="76200" marT="76200" marB="7620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D0DEEF"/>
                    </a:solidFill>
                  </a:tcPr>
                </a:tc>
                <a:tc>
                  <a:txBody>
                    <a:bodyPr anchor="t" rtlCol="false"/>
                    <a:lstStyle/>
                    <a:p>
                      <a:pPr algn="l">
                        <a:lnSpc>
                          <a:spcPts val="3219"/>
                        </a:lnSpc>
                        <a:defRPr/>
                      </a:pPr>
                      <a:endParaRPr lang="en-US" sz="1100"/>
                    </a:p>
                  </a:txBody>
                  <a:tcPr marL="76200" marR="76200" marT="76200" marB="7620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D0DEEF"/>
                    </a:solidFill>
                  </a:tcPr>
                </a:tc>
              </a:tr>
            </a:tbl>
          </a:graphicData>
        </a:graphic>
      </p:graphicFrame>
      <p:graphicFrame>
        <p:nvGraphicFramePr>
          <p:cNvPr name="Table 6" id="6"/>
          <p:cNvGraphicFramePr>
            <a:graphicFrameLocks noGrp="true"/>
          </p:cNvGraphicFramePr>
          <p:nvPr/>
        </p:nvGraphicFramePr>
        <p:xfrm>
          <a:off x="1031875" y="7846605"/>
          <a:ext cx="16227425" cy="1684998"/>
        </p:xfrm>
        <a:graphic>
          <a:graphicData uri="http://schemas.openxmlformats.org/drawingml/2006/table">
            <a:tbl>
              <a:tblPr/>
              <a:tblGrid>
                <a:gridCol w="3571772"/>
                <a:gridCol w="4220905"/>
                <a:gridCol w="4216197"/>
                <a:gridCol w="4218551"/>
              </a:tblGrid>
              <a:tr h="1684998">
                <a:tc>
                  <a:txBody>
                    <a:bodyPr anchor="t" rtlCol="false"/>
                    <a:lstStyle/>
                    <a:p>
                      <a:pPr algn="l">
                        <a:lnSpc>
                          <a:spcPts val="3499"/>
                        </a:lnSpc>
                        <a:defRPr/>
                      </a:pPr>
                      <a:r>
                        <a:rPr lang="en-US" sz="2499">
                          <a:solidFill>
                            <a:srgbClr val="000000"/>
                          </a:solidFill>
                          <a:latin typeface="Arimo"/>
                          <a:ea typeface="Arimo"/>
                          <a:cs typeface="Arimo"/>
                          <a:sym typeface="Arimo"/>
                        </a:rPr>
                        <a:t>     Aniket Jaiswal</a:t>
                      </a:r>
                      <a:endParaRPr lang="en-US" sz="1100"/>
                    </a:p>
                  </a:txBody>
                  <a:tcPr marL="76200" marR="76200" marT="76200" marB="7620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D0DEEF"/>
                    </a:solidFill>
                  </a:tcPr>
                </a:tc>
                <a:tc>
                  <a:txBody>
                    <a:bodyPr anchor="t" rtlCol="false"/>
                    <a:lstStyle/>
                    <a:p>
                      <a:pPr algn="l">
                        <a:lnSpc>
                          <a:spcPts val="3499"/>
                        </a:lnSpc>
                        <a:defRPr/>
                      </a:pPr>
                      <a:endParaRPr lang="en-US" sz="1100"/>
                    </a:p>
                  </a:txBody>
                  <a:tcPr marL="76200" marR="76200" marT="76200" marB="7620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D0DEEF"/>
                    </a:solidFill>
                  </a:tcPr>
                </a:tc>
                <a:tc>
                  <a:txBody>
                    <a:bodyPr anchor="t" rtlCol="false"/>
                    <a:lstStyle/>
                    <a:p>
                      <a:pPr algn="l">
                        <a:lnSpc>
                          <a:spcPts val="3079"/>
                        </a:lnSpc>
                        <a:defRPr/>
                      </a:pPr>
                      <a:r>
                        <a:rPr lang="en-US" sz="2199">
                          <a:solidFill>
                            <a:srgbClr val="000000"/>
                          </a:solidFill>
                          <a:latin typeface="Arimo"/>
                          <a:ea typeface="Arimo"/>
                          <a:cs typeface="Arimo"/>
                          <a:sym typeface="Arimo"/>
                        </a:rPr>
                        <a:t> officialaniket56@gmail.com</a:t>
                      </a:r>
                      <a:endParaRPr lang="en-US" sz="1100"/>
                    </a:p>
                  </a:txBody>
                  <a:tcPr marL="76200" marR="76200" marT="76200" marB="7620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D0DEEF"/>
                    </a:solidFill>
                  </a:tcPr>
                </a:tc>
                <a:tc>
                  <a:txBody>
                    <a:bodyPr anchor="t" rtlCol="false"/>
                    <a:lstStyle/>
                    <a:p>
                      <a:pPr algn="l">
                        <a:lnSpc>
                          <a:spcPts val="3219"/>
                        </a:lnSpc>
                        <a:defRPr/>
                      </a:pPr>
                      <a:r>
                        <a:rPr lang="en-US" sz="2299">
                          <a:solidFill>
                            <a:srgbClr val="000000"/>
                          </a:solidFill>
                          <a:latin typeface="Arimo"/>
                          <a:ea typeface="Arimo"/>
                          <a:cs typeface="Arimo"/>
                          <a:sym typeface="Arimo"/>
                        </a:rPr>
                        <a:t>    6267168690</a:t>
                      </a:r>
                      <a:endParaRPr lang="en-US" sz="1100"/>
                    </a:p>
                  </a:txBody>
                  <a:tcPr marL="76200" marR="76200" marT="76200" marB="7620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D0DEEF"/>
                    </a:solidFill>
                  </a:tcPr>
                </a:tc>
              </a:tr>
            </a:tbl>
          </a:graphicData>
        </a:graphic>
      </p:graphicFrame>
      <p:grpSp>
        <p:nvGrpSpPr>
          <p:cNvPr name="Group 7" id="7"/>
          <p:cNvGrpSpPr/>
          <p:nvPr/>
        </p:nvGrpSpPr>
        <p:grpSpPr>
          <a:xfrm rot="0">
            <a:off x="5786113" y="6380389"/>
            <a:ext cx="1428114" cy="1383272"/>
            <a:chOff x="0" y="0"/>
            <a:chExt cx="2536476" cy="2456832"/>
          </a:xfrm>
        </p:grpSpPr>
        <p:sp>
          <p:nvSpPr>
            <p:cNvPr name="Freeform 8" id="8"/>
            <p:cNvSpPr/>
            <p:nvPr/>
          </p:nvSpPr>
          <p:spPr>
            <a:xfrm flipH="false" flipV="false" rot="0">
              <a:off x="0" y="0"/>
              <a:ext cx="2536488" cy="2456845"/>
            </a:xfrm>
            <a:custGeom>
              <a:avLst/>
              <a:gdLst/>
              <a:ahLst/>
              <a:cxnLst/>
              <a:rect r="r" b="b" t="t" l="l"/>
              <a:pathLst>
                <a:path h="2456845" w="2536488">
                  <a:moveTo>
                    <a:pt x="0" y="0"/>
                  </a:moveTo>
                  <a:lnTo>
                    <a:pt x="2536488" y="0"/>
                  </a:lnTo>
                  <a:lnTo>
                    <a:pt x="2536488" y="2456845"/>
                  </a:lnTo>
                  <a:lnTo>
                    <a:pt x="0" y="2456845"/>
                  </a:lnTo>
                  <a:lnTo>
                    <a:pt x="0" y="0"/>
                  </a:lnTo>
                  <a:close/>
                </a:path>
              </a:pathLst>
            </a:custGeom>
            <a:blipFill>
              <a:blip r:embed="rId4"/>
              <a:stretch>
                <a:fillRect l="0" t="-8180" r="0" b="-8180"/>
              </a:stretch>
            </a:blipFill>
          </p:spPr>
        </p:sp>
      </p:grpSp>
      <p:grpSp>
        <p:nvGrpSpPr>
          <p:cNvPr name="Group 9" id="9"/>
          <p:cNvGrpSpPr/>
          <p:nvPr/>
        </p:nvGrpSpPr>
        <p:grpSpPr>
          <a:xfrm rot="0">
            <a:off x="5786113" y="8005186"/>
            <a:ext cx="1428114" cy="1390577"/>
            <a:chOff x="0" y="0"/>
            <a:chExt cx="1879293" cy="1829897"/>
          </a:xfrm>
        </p:grpSpPr>
        <p:sp>
          <p:nvSpPr>
            <p:cNvPr name="Freeform 10" id="10"/>
            <p:cNvSpPr/>
            <p:nvPr/>
          </p:nvSpPr>
          <p:spPr>
            <a:xfrm flipH="false" flipV="false" rot="0">
              <a:off x="0" y="0"/>
              <a:ext cx="1879306" cy="1829910"/>
            </a:xfrm>
            <a:custGeom>
              <a:avLst/>
              <a:gdLst/>
              <a:ahLst/>
              <a:cxnLst/>
              <a:rect r="r" b="b" t="t" l="l"/>
              <a:pathLst>
                <a:path h="1829910" w="1879306">
                  <a:moveTo>
                    <a:pt x="0" y="0"/>
                  </a:moveTo>
                  <a:lnTo>
                    <a:pt x="1879306" y="0"/>
                  </a:lnTo>
                  <a:lnTo>
                    <a:pt x="1879306" y="1829910"/>
                  </a:lnTo>
                  <a:lnTo>
                    <a:pt x="0" y="1829910"/>
                  </a:lnTo>
                  <a:lnTo>
                    <a:pt x="0" y="0"/>
                  </a:lnTo>
                  <a:close/>
                </a:path>
              </a:pathLst>
            </a:custGeom>
            <a:blipFill>
              <a:blip r:embed="rId5"/>
              <a:stretch>
                <a:fillRect l="0" t="-8812" r="0" b="-22095"/>
              </a:stretch>
            </a:blipFill>
          </p:spPr>
        </p:sp>
      </p:grpSp>
      <p:sp>
        <p:nvSpPr>
          <p:cNvPr name="TextBox 11" id="11"/>
          <p:cNvSpPr txBox="true"/>
          <p:nvPr/>
        </p:nvSpPr>
        <p:spPr>
          <a:xfrm rot="0">
            <a:off x="1900685" y="1959296"/>
            <a:ext cx="15237504" cy="428625"/>
          </a:xfrm>
          <a:prstGeom prst="rect">
            <a:avLst/>
          </a:prstGeom>
        </p:spPr>
        <p:txBody>
          <a:bodyPr anchor="t" rtlCol="false" tIns="0" lIns="0" bIns="0" rIns="0">
            <a:spAutoFit/>
          </a:bodyPr>
          <a:lstStyle/>
          <a:p>
            <a:pPr algn="l">
              <a:lnSpc>
                <a:spcPts val="3239"/>
              </a:lnSpc>
            </a:pPr>
            <a:r>
              <a:rPr lang="en-US" sz="2699" b="true">
                <a:solidFill>
                  <a:srgbClr val="000000"/>
                </a:solidFill>
                <a:latin typeface="Arial Bold"/>
                <a:ea typeface="Arial Bold"/>
                <a:cs typeface="Arial Bold"/>
                <a:sym typeface="Arial Bold"/>
              </a:rPr>
              <a:t>Domain of Project –</a:t>
            </a:r>
            <a:r>
              <a:rPr lang="en-US" sz="2699">
                <a:solidFill>
                  <a:srgbClr val="000000"/>
                </a:solidFill>
                <a:latin typeface="Arial"/>
                <a:ea typeface="Arial"/>
                <a:cs typeface="Arial"/>
                <a:sym typeface="Arial"/>
              </a:rPr>
              <a:t> Urban Infrastructure &amp; Disaster Management</a:t>
            </a:r>
          </a:p>
        </p:txBody>
      </p:sp>
      <p:sp>
        <p:nvSpPr>
          <p:cNvPr name="TextBox 12" id="12"/>
          <p:cNvSpPr txBox="true"/>
          <p:nvPr/>
        </p:nvSpPr>
        <p:spPr>
          <a:xfrm rot="0">
            <a:off x="1900685" y="800100"/>
            <a:ext cx="14188888" cy="447675"/>
          </a:xfrm>
          <a:prstGeom prst="rect">
            <a:avLst/>
          </a:prstGeom>
        </p:spPr>
        <p:txBody>
          <a:bodyPr anchor="t" rtlCol="false" tIns="0" lIns="0" bIns="0" rIns="0">
            <a:spAutoFit/>
          </a:bodyPr>
          <a:lstStyle/>
          <a:p>
            <a:pPr algn="l">
              <a:lnSpc>
                <a:spcPts val="3479"/>
              </a:lnSpc>
            </a:pPr>
            <a:r>
              <a:rPr lang="en-US" sz="2899" b="true">
                <a:solidFill>
                  <a:srgbClr val="000000"/>
                </a:solidFill>
                <a:latin typeface="Arial Bold"/>
                <a:ea typeface="Arial Bold"/>
                <a:cs typeface="Arial Bold"/>
                <a:sym typeface="Arial Bold"/>
              </a:rPr>
              <a:t>Project Title – </a:t>
            </a:r>
            <a:r>
              <a:rPr lang="en-US" sz="2899">
                <a:solidFill>
                  <a:srgbClr val="000000"/>
                </a:solidFill>
                <a:latin typeface="Arial"/>
                <a:ea typeface="Arial"/>
                <a:cs typeface="Arial"/>
                <a:sym typeface="Arial"/>
              </a:rPr>
              <a:t> FLOODGUARD AI</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62888" y="1684783"/>
            <a:ext cx="18162223" cy="8353425"/>
          </a:xfrm>
          <a:prstGeom prst="rect">
            <a:avLst/>
          </a:prstGeom>
        </p:spPr>
        <p:txBody>
          <a:bodyPr anchor="t" rtlCol="false" tIns="0" lIns="0" bIns="0" rIns="0">
            <a:spAutoFit/>
          </a:bodyPr>
          <a:lstStyle/>
          <a:p>
            <a:pPr algn="l">
              <a:lnSpc>
                <a:spcPts val="3390"/>
              </a:lnSpc>
            </a:pPr>
            <a:r>
              <a:rPr lang="en-US" sz="2825" b="true">
                <a:solidFill>
                  <a:srgbClr val="000000"/>
                </a:solidFill>
                <a:latin typeface="Arial Bold"/>
                <a:ea typeface="Arial Bold"/>
                <a:cs typeface="Arial Bold"/>
                <a:sym typeface="Arial Bold"/>
              </a:rPr>
              <a:t>The Challenge</a:t>
            </a:r>
          </a:p>
          <a:p>
            <a:pPr algn="l">
              <a:lnSpc>
                <a:spcPts val="2670"/>
              </a:lnSpc>
            </a:pPr>
            <a:r>
              <a:rPr lang="en-US" sz="2225">
                <a:solidFill>
                  <a:srgbClr val="000000"/>
                </a:solidFill>
                <a:latin typeface="Arial"/>
                <a:ea typeface="Arial"/>
                <a:cs typeface="Arial"/>
                <a:sym typeface="Arial"/>
              </a:rPr>
              <a:t>Rapid urbanization in Ahmedabad and Surat is putting increasing pressure on existing stormwater drainage infrastructure. During heavy monsoon rainfall, this can lead to:</a:t>
            </a:r>
          </a:p>
          <a:p>
            <a:pPr algn="l">
              <a:lnSpc>
                <a:spcPts val="2910"/>
              </a:lnSpc>
            </a:pPr>
          </a:p>
          <a:p>
            <a:pPr algn="l">
              <a:lnSpc>
                <a:spcPts val="2910"/>
              </a:lnSpc>
            </a:pPr>
            <a:r>
              <a:rPr lang="en-US" sz="2425" b="true">
                <a:solidFill>
                  <a:srgbClr val="000000"/>
                </a:solidFill>
                <a:latin typeface="Arial Bold"/>
                <a:ea typeface="Arial Bold"/>
                <a:cs typeface="Arial Bold"/>
                <a:sym typeface="Arial Bold"/>
              </a:rPr>
              <a:t>Heavy Rainfall:</a:t>
            </a:r>
          </a:p>
          <a:p>
            <a:pPr algn="l">
              <a:lnSpc>
                <a:spcPts val="2910"/>
              </a:lnSpc>
            </a:pPr>
            <a:r>
              <a:rPr lang="en-US" sz="2425">
                <a:solidFill>
                  <a:srgbClr val="000000"/>
                </a:solidFill>
                <a:latin typeface="Arial"/>
                <a:ea typeface="Arial"/>
                <a:cs typeface="Arial"/>
                <a:sym typeface="Arial"/>
              </a:rPr>
              <a:t> Intense rainfall can overwhelm urban drainage systems.</a:t>
            </a:r>
          </a:p>
          <a:p>
            <a:pPr algn="l">
              <a:lnSpc>
                <a:spcPts val="2910"/>
              </a:lnSpc>
            </a:pPr>
          </a:p>
          <a:p>
            <a:pPr algn="l">
              <a:lnSpc>
                <a:spcPts val="2910"/>
              </a:lnSpc>
            </a:pPr>
            <a:r>
              <a:rPr lang="en-US" sz="2425" b="true">
                <a:solidFill>
                  <a:srgbClr val="000000"/>
                </a:solidFill>
                <a:latin typeface="Arial Bold"/>
                <a:ea typeface="Arial Bold"/>
                <a:cs typeface="Arial Bold"/>
                <a:sym typeface="Arial Bold"/>
              </a:rPr>
              <a:t>Drainage Bottlenecks:</a:t>
            </a:r>
          </a:p>
          <a:p>
            <a:pPr algn="l">
              <a:lnSpc>
                <a:spcPts val="2910"/>
              </a:lnSpc>
            </a:pPr>
            <a:r>
              <a:rPr lang="en-US" sz="2425">
                <a:solidFill>
                  <a:srgbClr val="000000"/>
                </a:solidFill>
                <a:latin typeface="Arial"/>
                <a:ea typeface="Arial"/>
                <a:cs typeface="Arial"/>
                <a:sym typeface="Arial"/>
              </a:rPr>
              <a:t> Blocked or inadequate drainage can cause localized waterlogging.</a:t>
            </a:r>
          </a:p>
          <a:p>
            <a:pPr algn="l">
              <a:lnSpc>
                <a:spcPts val="2910"/>
              </a:lnSpc>
            </a:pPr>
          </a:p>
          <a:p>
            <a:pPr algn="l">
              <a:lnSpc>
                <a:spcPts val="2910"/>
              </a:lnSpc>
            </a:pPr>
            <a:r>
              <a:rPr lang="en-US" sz="2425" b="true">
                <a:solidFill>
                  <a:srgbClr val="000000"/>
                </a:solidFill>
                <a:latin typeface="Arial Bold"/>
                <a:ea typeface="Arial Bold"/>
                <a:cs typeface="Arial Bold"/>
                <a:sym typeface="Arial Bold"/>
              </a:rPr>
              <a:t>Fragmented Information:</a:t>
            </a:r>
          </a:p>
          <a:p>
            <a:pPr algn="l">
              <a:lnSpc>
                <a:spcPts val="2910"/>
              </a:lnSpc>
            </a:pPr>
            <a:r>
              <a:rPr lang="en-US" sz="2425">
                <a:solidFill>
                  <a:srgbClr val="000000"/>
                </a:solidFill>
                <a:latin typeface="Arial"/>
                <a:ea typeface="Arial"/>
                <a:cs typeface="Arial"/>
                <a:sym typeface="Arial"/>
              </a:rPr>
              <a:t> Rainfall, flood history, drainage conditions, and citizen reports are scattered across different sources.</a:t>
            </a:r>
          </a:p>
          <a:p>
            <a:pPr algn="l">
              <a:lnSpc>
                <a:spcPts val="2910"/>
              </a:lnSpc>
            </a:pPr>
          </a:p>
          <a:p>
            <a:pPr algn="l">
              <a:lnSpc>
                <a:spcPts val="2910"/>
              </a:lnSpc>
            </a:pPr>
            <a:r>
              <a:rPr lang="en-US" sz="2425" b="true">
                <a:solidFill>
                  <a:srgbClr val="000000"/>
                </a:solidFill>
                <a:latin typeface="Arial Bold"/>
                <a:ea typeface="Arial Bold"/>
                <a:cs typeface="Arial Bold"/>
                <a:sym typeface="Arial Bold"/>
              </a:rPr>
              <a:t>Delayed Response:</a:t>
            </a:r>
          </a:p>
          <a:p>
            <a:pPr algn="l">
              <a:lnSpc>
                <a:spcPts val="2910"/>
              </a:lnSpc>
            </a:pPr>
            <a:r>
              <a:rPr lang="en-US" sz="2425">
                <a:solidFill>
                  <a:srgbClr val="000000"/>
                </a:solidFill>
                <a:latin typeface="Arial"/>
                <a:ea typeface="Arial"/>
                <a:cs typeface="Arial"/>
                <a:sym typeface="Arial"/>
              </a:rPr>
              <a:t> Authorities may struggle to identify high-risk locations and prioritize critical response actions quickly.</a:t>
            </a:r>
          </a:p>
          <a:p>
            <a:pPr algn="l">
              <a:lnSpc>
                <a:spcPts val="2910"/>
              </a:lnSpc>
            </a:pPr>
          </a:p>
          <a:p>
            <a:pPr algn="l">
              <a:lnSpc>
                <a:spcPts val="2910"/>
              </a:lnSpc>
            </a:pPr>
            <a:r>
              <a:rPr lang="en-US" sz="2425" b="true">
                <a:solidFill>
                  <a:srgbClr val="000000"/>
                </a:solidFill>
                <a:latin typeface="Arial Bold"/>
                <a:ea typeface="Arial Bold"/>
                <a:cs typeface="Arial Bold"/>
                <a:sym typeface="Arial Bold"/>
              </a:rPr>
              <a:t>The Core Challenge:</a:t>
            </a:r>
          </a:p>
          <a:p>
            <a:pPr algn="l">
              <a:lnSpc>
                <a:spcPts val="2910"/>
              </a:lnSpc>
            </a:pPr>
            <a:r>
              <a:rPr lang="en-US" sz="2425">
                <a:solidFill>
                  <a:srgbClr val="000000"/>
                </a:solidFill>
                <a:latin typeface="Arial"/>
                <a:ea typeface="Arial"/>
                <a:cs typeface="Arial"/>
                <a:sym typeface="Arial"/>
              </a:rPr>
              <a:t>How can fragmented flood information be transformed into fast, localized, and actionable decisions for civic authorities?</a:t>
            </a:r>
          </a:p>
          <a:p>
            <a:pPr algn="l">
              <a:lnSpc>
                <a:spcPts val="2910"/>
              </a:lnSpc>
            </a:pPr>
          </a:p>
          <a:p>
            <a:pPr algn="l">
              <a:lnSpc>
                <a:spcPts val="2910"/>
              </a:lnSpc>
            </a:pPr>
            <a:r>
              <a:rPr lang="en-US" sz="2425" b="true">
                <a:solidFill>
                  <a:srgbClr val="000000"/>
                </a:solidFill>
                <a:latin typeface="Arial Bold"/>
                <a:ea typeface="Arial Bold"/>
                <a:cs typeface="Arial Bold"/>
                <a:sym typeface="Arial Bold"/>
              </a:rPr>
              <a:t>Our Goal:</a:t>
            </a:r>
          </a:p>
          <a:p>
            <a:pPr algn="l">
              <a:lnSpc>
                <a:spcPts val="2910"/>
              </a:lnSpc>
            </a:pPr>
            <a:r>
              <a:rPr lang="en-US" sz="2425">
                <a:solidFill>
                  <a:srgbClr val="000000"/>
                </a:solidFill>
                <a:latin typeface="Arial"/>
                <a:ea typeface="Arial"/>
                <a:cs typeface="Arial"/>
                <a:sym typeface="Arial"/>
              </a:rPr>
              <a:t>FloodGuard AI bridges the gap between flood-risk detection and coordinated civic response.</a:t>
            </a:r>
          </a:p>
          <a:p>
            <a:pPr algn="l">
              <a:lnSpc>
                <a:spcPts val="2910"/>
              </a:lnSpc>
            </a:pPr>
          </a:p>
          <a:p>
            <a:pPr algn="l">
              <a:lnSpc>
                <a:spcPts val="2910"/>
              </a:lnSpc>
            </a:pPr>
          </a:p>
        </p:txBody>
      </p:sp>
      <p:sp>
        <p:nvSpPr>
          <p:cNvPr name="TextBox 3" id="3"/>
          <p:cNvSpPr txBox="true"/>
          <p:nvPr/>
        </p:nvSpPr>
        <p:spPr>
          <a:xfrm rot="0">
            <a:off x="425639" y="709122"/>
            <a:ext cx="10639044" cy="590550"/>
          </a:xfrm>
          <a:prstGeom prst="rect">
            <a:avLst/>
          </a:prstGeom>
        </p:spPr>
        <p:txBody>
          <a:bodyPr anchor="t" rtlCol="false" tIns="0" lIns="0" bIns="0" rIns="0">
            <a:spAutoFit/>
          </a:bodyPr>
          <a:lstStyle/>
          <a:p>
            <a:pPr algn="l">
              <a:lnSpc>
                <a:spcPts val="4559"/>
              </a:lnSpc>
            </a:pPr>
            <a:r>
              <a:rPr lang="en-US" sz="3799" b="true">
                <a:solidFill>
                  <a:srgbClr val="000000"/>
                </a:solidFill>
                <a:latin typeface="Arial Bold"/>
                <a:ea typeface="Arial Bold"/>
                <a:cs typeface="Arial Bold"/>
                <a:sym typeface="Arial Bold"/>
              </a:rPr>
              <a:t>Problem Statement </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97274" y="221719"/>
            <a:ext cx="8546726" cy="457200"/>
          </a:xfrm>
          <a:prstGeom prst="rect">
            <a:avLst/>
          </a:prstGeom>
        </p:spPr>
        <p:txBody>
          <a:bodyPr anchor="t" rtlCol="false" tIns="0" lIns="0" bIns="0" rIns="0">
            <a:spAutoFit/>
          </a:bodyPr>
          <a:lstStyle/>
          <a:p>
            <a:pPr algn="ctr">
              <a:lnSpc>
                <a:spcPts val="3599"/>
              </a:lnSpc>
              <a:spcBef>
                <a:spcPct val="0"/>
              </a:spcBef>
            </a:pPr>
            <a:r>
              <a:rPr lang="en-US" b="true" sz="2999">
                <a:solidFill>
                  <a:srgbClr val="000000"/>
                </a:solidFill>
                <a:latin typeface="Arial Bold"/>
                <a:ea typeface="Arial Bold"/>
                <a:cs typeface="Arial Bold"/>
                <a:sym typeface="Arial Bold"/>
              </a:rPr>
              <a:t>Proposed S</a:t>
            </a:r>
            <a:r>
              <a:rPr lang="en-US" b="true" sz="2999">
                <a:solidFill>
                  <a:srgbClr val="000000"/>
                </a:solidFill>
                <a:latin typeface="Arial Bold"/>
                <a:ea typeface="Arial Bold"/>
                <a:cs typeface="Arial Bold"/>
                <a:sym typeface="Arial Bold"/>
              </a:rPr>
              <a:t>olution: FLOODGUARD AI</a:t>
            </a:r>
          </a:p>
        </p:txBody>
      </p:sp>
      <p:sp>
        <p:nvSpPr>
          <p:cNvPr name="TextBox 3" id="3"/>
          <p:cNvSpPr txBox="true"/>
          <p:nvPr/>
        </p:nvSpPr>
        <p:spPr>
          <a:xfrm rot="0">
            <a:off x="142217" y="917044"/>
            <a:ext cx="18003566" cy="1244823"/>
          </a:xfrm>
          <a:prstGeom prst="rect">
            <a:avLst/>
          </a:prstGeom>
        </p:spPr>
        <p:txBody>
          <a:bodyPr anchor="t" rtlCol="false" tIns="0" lIns="0" bIns="0" rIns="0">
            <a:spAutoFit/>
          </a:bodyPr>
          <a:lstStyle/>
          <a:p>
            <a:pPr algn="l">
              <a:lnSpc>
                <a:spcPts val="3312"/>
              </a:lnSpc>
            </a:pPr>
            <a:r>
              <a:rPr lang="en-US" sz="2366">
                <a:solidFill>
                  <a:srgbClr val="000000"/>
                </a:solidFill>
                <a:latin typeface="Canva Sans"/>
                <a:ea typeface="Canva Sans"/>
                <a:cs typeface="Canva Sans"/>
                <a:sym typeface="Canva Sans"/>
              </a:rPr>
              <a:t>FLOODGUARD AI is a multi-agent urban flood intelligence platform built using IBM Bob, IBM Granite, IBM Cloud, Machine Learning, and Geospatial Intelligence. It converts rainfall, drainage, historical flood, and citizen data into localized risk insights and prioritized response recommendations.</a:t>
            </a:r>
          </a:p>
        </p:txBody>
      </p:sp>
      <p:sp>
        <p:nvSpPr>
          <p:cNvPr name="TextBox 4" id="4"/>
          <p:cNvSpPr txBox="true"/>
          <p:nvPr/>
        </p:nvSpPr>
        <p:spPr>
          <a:xfrm rot="0">
            <a:off x="142217" y="2342842"/>
            <a:ext cx="18145783" cy="815460"/>
          </a:xfrm>
          <a:prstGeom prst="rect">
            <a:avLst/>
          </a:prstGeom>
        </p:spPr>
        <p:txBody>
          <a:bodyPr anchor="t" rtlCol="false" tIns="0" lIns="0" bIns="0" rIns="0">
            <a:spAutoFit/>
          </a:bodyPr>
          <a:lstStyle/>
          <a:p>
            <a:pPr algn="l">
              <a:lnSpc>
                <a:spcPts val="3353"/>
              </a:lnSpc>
            </a:pPr>
            <a:r>
              <a:rPr lang="en-US" sz="2395">
                <a:solidFill>
                  <a:srgbClr val="000000"/>
                </a:solidFill>
                <a:latin typeface="Canva Sans"/>
                <a:ea typeface="Canva Sans"/>
                <a:cs typeface="Canva Sans"/>
                <a:sym typeface="Canva Sans"/>
              </a:rPr>
              <a:t>The system combines Machine Learning for flood-risk prediction with IBM Granite-powered Agentic AI for incident understanding, risk explanation, summarization, and grounded recommendations.</a:t>
            </a:r>
          </a:p>
        </p:txBody>
      </p:sp>
      <p:sp>
        <p:nvSpPr>
          <p:cNvPr name="TextBox 5" id="5"/>
          <p:cNvSpPr txBox="true"/>
          <p:nvPr/>
        </p:nvSpPr>
        <p:spPr>
          <a:xfrm rot="0">
            <a:off x="106663" y="3339277"/>
            <a:ext cx="18145783" cy="1960879"/>
          </a:xfrm>
          <a:prstGeom prst="rect">
            <a:avLst/>
          </a:prstGeom>
        </p:spPr>
        <p:txBody>
          <a:bodyPr anchor="t" rtlCol="false" tIns="0" lIns="0" bIns="0" rIns="0">
            <a:spAutoFit/>
          </a:bodyPr>
          <a:lstStyle/>
          <a:p>
            <a:pPr algn="l">
              <a:lnSpc>
                <a:spcPts val="3360"/>
              </a:lnSpc>
            </a:pPr>
            <a:r>
              <a:rPr lang="en-US" sz="2400" b="true">
                <a:solidFill>
                  <a:srgbClr val="000000"/>
                </a:solidFill>
                <a:latin typeface="Canva Sans Bold"/>
                <a:ea typeface="Canva Sans Bold"/>
                <a:cs typeface="Canva Sans Bold"/>
                <a:sym typeface="Canva Sans Bold"/>
              </a:rPr>
              <a:t> Multi-Agent System</a:t>
            </a:r>
          </a:p>
          <a:p>
            <a:pPr algn="l" marL="474986" indent="-237493" lvl="1">
              <a:lnSpc>
                <a:spcPts val="3080"/>
              </a:lnSpc>
              <a:buFont typeface="Arial"/>
              <a:buChar char="•"/>
            </a:pPr>
            <a:r>
              <a:rPr lang="en-US" sz="2200">
                <a:solidFill>
                  <a:srgbClr val="000000"/>
                </a:solidFill>
                <a:latin typeface="Canva Sans"/>
                <a:ea typeface="Canva Sans"/>
                <a:cs typeface="Canva Sans"/>
                <a:sym typeface="Canva Sans"/>
              </a:rPr>
              <a:t>Flood Risk Prediction Agent — Predicts flood risk using rainfall, historical flooding, drainage, and incident data.</a:t>
            </a:r>
          </a:p>
          <a:p>
            <a:pPr algn="l" marL="474986" indent="-237493" lvl="1">
              <a:lnSpc>
                <a:spcPts val="3080"/>
              </a:lnSpc>
              <a:buFont typeface="Arial"/>
              <a:buChar char="•"/>
            </a:pPr>
            <a:r>
              <a:rPr lang="en-US" sz="2200">
                <a:solidFill>
                  <a:srgbClr val="000000"/>
                </a:solidFill>
                <a:latin typeface="Canva Sans"/>
                <a:ea typeface="Canva Sans"/>
                <a:cs typeface="Canva Sans"/>
                <a:sym typeface="Canva Sans"/>
              </a:rPr>
              <a:t>Drainage Maintenance Agent — Identifies vulnerable drains and prioritizes maintenance.</a:t>
            </a:r>
          </a:p>
          <a:p>
            <a:pPr algn="l" marL="474986" indent="-237493" lvl="1">
              <a:lnSpc>
                <a:spcPts val="3080"/>
              </a:lnSpc>
              <a:buFont typeface="Arial"/>
              <a:buChar char="•"/>
            </a:pPr>
            <a:r>
              <a:rPr lang="en-US" sz="2200">
                <a:solidFill>
                  <a:srgbClr val="000000"/>
                </a:solidFill>
                <a:latin typeface="Canva Sans"/>
                <a:ea typeface="Canva Sans"/>
                <a:cs typeface="Canva Sans"/>
                <a:sym typeface="Canva Sans"/>
              </a:rPr>
              <a:t>Citizen Flood Report Agent — Understands Gujarati, Hindi, and English reports and classifies severity.</a:t>
            </a:r>
          </a:p>
          <a:p>
            <a:pPr algn="l" marL="474986" indent="-237493" lvl="1">
              <a:lnSpc>
                <a:spcPts val="3080"/>
              </a:lnSpc>
              <a:buFont typeface="Arial"/>
              <a:buChar char="•"/>
            </a:pPr>
            <a:r>
              <a:rPr lang="en-US" sz="2200">
                <a:solidFill>
                  <a:srgbClr val="000000"/>
                </a:solidFill>
                <a:latin typeface="Canva Sans"/>
                <a:ea typeface="Canva Sans"/>
                <a:cs typeface="Canva Sans"/>
                <a:sym typeface="Canva Sans"/>
              </a:rPr>
              <a:t>Civic Response Agent — Combines agent insights and generates prioritized response plans with human approval for critical actions.</a:t>
            </a:r>
          </a:p>
        </p:txBody>
      </p:sp>
      <p:sp>
        <p:nvSpPr>
          <p:cNvPr name="TextBox 6" id="6"/>
          <p:cNvSpPr txBox="true"/>
          <p:nvPr/>
        </p:nvSpPr>
        <p:spPr>
          <a:xfrm rot="0">
            <a:off x="-249809" y="5481132"/>
            <a:ext cx="5498522" cy="396238"/>
          </a:xfrm>
          <a:prstGeom prst="rect">
            <a:avLst/>
          </a:prstGeom>
        </p:spPr>
        <p:txBody>
          <a:bodyPr anchor="t" rtlCol="false" tIns="0" lIns="0" bIns="0" rIns="0">
            <a:spAutoFit/>
          </a:bodyPr>
          <a:lstStyle/>
          <a:p>
            <a:pPr algn="ctr">
              <a:lnSpc>
                <a:spcPts val="3360"/>
              </a:lnSpc>
            </a:pPr>
            <a:r>
              <a:rPr lang="en-US" sz="2400" b="true">
                <a:solidFill>
                  <a:srgbClr val="000000"/>
                </a:solidFill>
                <a:latin typeface="Canva Sans Bold"/>
                <a:ea typeface="Canva Sans Bold"/>
                <a:cs typeface="Canva Sans Bold"/>
                <a:sym typeface="Canva Sans Bold"/>
              </a:rPr>
              <a:t>Command Centre Dashboard</a:t>
            </a:r>
          </a:p>
        </p:txBody>
      </p:sp>
      <p:sp>
        <p:nvSpPr>
          <p:cNvPr name="TextBox 7" id="7"/>
          <p:cNvSpPr txBox="true"/>
          <p:nvPr/>
        </p:nvSpPr>
        <p:spPr>
          <a:xfrm rot="0">
            <a:off x="106663" y="6118037"/>
            <a:ext cx="18216891" cy="869949"/>
          </a:xfrm>
          <a:prstGeom prst="rect">
            <a:avLst/>
          </a:prstGeom>
        </p:spPr>
        <p:txBody>
          <a:bodyPr anchor="t" rtlCol="false" tIns="0" lIns="0" bIns="0" rIns="0">
            <a:spAutoFit/>
          </a:bodyPr>
          <a:lstStyle/>
          <a:p>
            <a:pPr algn="l">
              <a:lnSpc>
                <a:spcPts val="3500"/>
              </a:lnSpc>
            </a:pPr>
            <a:r>
              <a:rPr lang="en-US" sz="2500">
                <a:solidFill>
                  <a:srgbClr val="000000"/>
                </a:solidFill>
                <a:latin typeface="Canva Sans"/>
                <a:ea typeface="Canva Sans"/>
                <a:cs typeface="Canva Sans"/>
                <a:sym typeface="Canva Sans"/>
              </a:rPr>
              <a:t>Provides an interactive view of risk zones, rainfall, active incidents, drainage priorities, citizen reports, response teams, and AI recommendations.</a:t>
            </a:r>
          </a:p>
        </p:txBody>
      </p:sp>
      <p:sp>
        <p:nvSpPr>
          <p:cNvPr name="TextBox 8" id="8"/>
          <p:cNvSpPr txBox="true"/>
          <p:nvPr/>
        </p:nvSpPr>
        <p:spPr>
          <a:xfrm rot="0">
            <a:off x="142217" y="7168962"/>
            <a:ext cx="9827419" cy="2351404"/>
          </a:xfrm>
          <a:prstGeom prst="rect">
            <a:avLst/>
          </a:prstGeom>
        </p:spPr>
        <p:txBody>
          <a:bodyPr anchor="t" rtlCol="false" tIns="0" lIns="0" bIns="0" rIns="0">
            <a:spAutoFit/>
          </a:bodyPr>
          <a:lstStyle/>
          <a:p>
            <a:pPr algn="l">
              <a:lnSpc>
                <a:spcPts val="3360"/>
              </a:lnSpc>
            </a:pPr>
            <a:r>
              <a:rPr lang="en-US" sz="2400" b="true">
                <a:solidFill>
                  <a:srgbClr val="000000"/>
                </a:solidFill>
                <a:latin typeface="Canva Sans Bold"/>
                <a:ea typeface="Canva Sans Bold"/>
                <a:cs typeface="Canva Sans Bold"/>
                <a:sym typeface="Canva Sans Bold"/>
              </a:rPr>
              <a:t> IBM Technology</a:t>
            </a:r>
          </a:p>
          <a:p>
            <a:pPr algn="l" marL="474986" indent="-237493" lvl="1">
              <a:lnSpc>
                <a:spcPts val="3080"/>
              </a:lnSpc>
              <a:buFont typeface="Arial"/>
              <a:buChar char="•"/>
            </a:pPr>
            <a:r>
              <a:rPr lang="en-US" sz="2200">
                <a:solidFill>
                  <a:srgbClr val="000000"/>
                </a:solidFill>
                <a:latin typeface="Canva Sans"/>
                <a:ea typeface="Canva Sans"/>
                <a:cs typeface="Canva Sans"/>
                <a:sym typeface="Canva Sans"/>
              </a:rPr>
              <a:t>IBM Bob — Application &amp; agent workflow</a:t>
            </a:r>
          </a:p>
          <a:p>
            <a:pPr algn="l" marL="474986" indent="-237493" lvl="1">
              <a:lnSpc>
                <a:spcPts val="3080"/>
              </a:lnSpc>
              <a:buFont typeface="Arial"/>
              <a:buChar char="•"/>
            </a:pPr>
            <a:r>
              <a:rPr lang="en-US" sz="2200">
                <a:solidFill>
                  <a:srgbClr val="000000"/>
                </a:solidFill>
                <a:latin typeface="Canva Sans"/>
                <a:ea typeface="Canva Sans"/>
                <a:cs typeface="Canva Sans"/>
                <a:sym typeface="Canva Sans"/>
              </a:rPr>
              <a:t>IBM Granite — Reasoning, summarization &amp; recommendations</a:t>
            </a:r>
          </a:p>
          <a:p>
            <a:pPr algn="l" marL="474986" indent="-237493" lvl="1">
              <a:lnSpc>
                <a:spcPts val="3080"/>
              </a:lnSpc>
              <a:buFont typeface="Arial"/>
              <a:buChar char="•"/>
            </a:pPr>
            <a:r>
              <a:rPr lang="en-US" sz="2200">
                <a:solidFill>
                  <a:srgbClr val="000000"/>
                </a:solidFill>
                <a:latin typeface="Canva Sans"/>
                <a:ea typeface="Canva Sans"/>
                <a:cs typeface="Canva Sans"/>
                <a:sym typeface="Canva Sans"/>
              </a:rPr>
              <a:t>IBM Cloud — IBM ecosystem integration and cloud-ready architecture</a:t>
            </a:r>
          </a:p>
          <a:p>
            <a:pPr algn="l" marL="474986" indent="-237493" lvl="1">
              <a:lnSpc>
                <a:spcPts val="3080"/>
              </a:lnSpc>
              <a:buFont typeface="Arial"/>
              <a:buChar char="•"/>
            </a:pPr>
            <a:r>
              <a:rPr lang="en-US" sz="2200">
                <a:solidFill>
                  <a:srgbClr val="000000"/>
                </a:solidFill>
                <a:latin typeface="Canva Sans"/>
                <a:ea typeface="Canva Sans"/>
                <a:cs typeface="Canva Sans"/>
                <a:sym typeface="Canva Sans"/>
              </a:rPr>
              <a:t>Machine Learning — Flood-risk prediction</a:t>
            </a:r>
          </a:p>
          <a:p>
            <a:pPr algn="l" marL="474986" indent="-237493" lvl="1">
              <a:lnSpc>
                <a:spcPts val="3080"/>
              </a:lnSpc>
              <a:buFont typeface="Arial"/>
              <a:buChar char="•"/>
            </a:pPr>
            <a:r>
              <a:rPr lang="en-US" sz="2200">
                <a:solidFill>
                  <a:srgbClr val="000000"/>
                </a:solidFill>
                <a:latin typeface="Canva Sans"/>
                <a:ea typeface="Canva Sans"/>
                <a:cs typeface="Canva Sans"/>
                <a:sym typeface="Canva Sans"/>
              </a:rPr>
              <a:t>Geospatial Intelligence — Location-based visualization</a:t>
            </a:r>
          </a:p>
        </p:txBody>
      </p:sp>
      <p:sp>
        <p:nvSpPr>
          <p:cNvPr name="TextBox 9" id="9"/>
          <p:cNvSpPr txBox="true"/>
          <p:nvPr/>
        </p:nvSpPr>
        <p:spPr>
          <a:xfrm rot="0">
            <a:off x="12766658" y="7643307"/>
            <a:ext cx="5379125" cy="1877060"/>
          </a:xfrm>
          <a:prstGeom prst="rect">
            <a:avLst/>
          </a:prstGeom>
        </p:spPr>
        <p:txBody>
          <a:bodyPr anchor="t" rtlCol="false" tIns="0" lIns="0" bIns="0" rIns="0">
            <a:spAutoFit/>
          </a:bodyPr>
          <a:lstStyle/>
          <a:p>
            <a:pPr algn="l">
              <a:lnSpc>
                <a:spcPts val="3360"/>
              </a:lnSpc>
            </a:pPr>
            <a:r>
              <a:rPr lang="en-US" sz="2400" b="true">
                <a:solidFill>
                  <a:srgbClr val="000000"/>
                </a:solidFill>
                <a:latin typeface="Canva Sans Bold"/>
                <a:ea typeface="Canva Sans Bold"/>
                <a:cs typeface="Canva Sans Bold"/>
                <a:sym typeface="Canva Sans Bold"/>
              </a:rPr>
              <a:t>Urban Flood Command Centre</a:t>
            </a:r>
          </a:p>
          <a:p>
            <a:pPr algn="l" marL="604523" indent="-302261" lvl="1">
              <a:lnSpc>
                <a:spcPts val="3920"/>
              </a:lnSpc>
              <a:buFont typeface="Arial"/>
              <a:buChar char="•"/>
            </a:pPr>
            <a:r>
              <a:rPr lang="en-US" sz="2800">
                <a:solidFill>
                  <a:srgbClr val="000000"/>
                </a:solidFill>
                <a:latin typeface="Canva Sans"/>
                <a:ea typeface="Canva Sans"/>
                <a:cs typeface="Canva Sans"/>
                <a:sym typeface="Canva Sans"/>
              </a:rPr>
              <a:t>WHERE is flooding likely?</a:t>
            </a:r>
          </a:p>
          <a:p>
            <a:pPr algn="l" marL="604523" indent="-302261" lvl="1">
              <a:lnSpc>
                <a:spcPts val="3920"/>
              </a:lnSpc>
              <a:buFont typeface="Arial"/>
              <a:buChar char="•"/>
            </a:pPr>
            <a:r>
              <a:rPr lang="en-US" sz="2800">
                <a:solidFill>
                  <a:srgbClr val="000000"/>
                </a:solidFill>
                <a:latin typeface="Canva Sans"/>
                <a:ea typeface="Canva Sans"/>
                <a:cs typeface="Canva Sans"/>
                <a:sym typeface="Canva Sans"/>
              </a:rPr>
              <a:t>WHY is the area at risk?</a:t>
            </a:r>
          </a:p>
          <a:p>
            <a:pPr algn="l" marL="604523" indent="-302261" lvl="1">
              <a:lnSpc>
                <a:spcPts val="3920"/>
              </a:lnSpc>
              <a:buFont typeface="Arial"/>
              <a:buChar char="•"/>
            </a:pPr>
            <a:r>
              <a:rPr lang="en-US" sz="2800">
                <a:solidFill>
                  <a:srgbClr val="000000"/>
                </a:solidFill>
                <a:latin typeface="Canva Sans"/>
                <a:ea typeface="Canva Sans"/>
                <a:cs typeface="Canva Sans"/>
                <a:sym typeface="Canva Sans"/>
              </a:rPr>
              <a:t>WHAT should be done next?</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640597"/>
            <a:ext cx="10501884" cy="571500"/>
          </a:xfrm>
          <a:prstGeom prst="rect">
            <a:avLst/>
          </a:prstGeom>
        </p:spPr>
        <p:txBody>
          <a:bodyPr anchor="t" rtlCol="false" tIns="0" lIns="0" bIns="0" rIns="0">
            <a:spAutoFit/>
          </a:bodyPr>
          <a:lstStyle/>
          <a:p>
            <a:pPr algn="l">
              <a:lnSpc>
                <a:spcPts val="4320"/>
              </a:lnSpc>
            </a:pPr>
            <a:r>
              <a:rPr lang="en-US" sz="3600" b="true">
                <a:solidFill>
                  <a:srgbClr val="000000"/>
                </a:solidFill>
                <a:latin typeface="Arial Bold"/>
                <a:ea typeface="Arial Bold"/>
                <a:cs typeface="Arial Bold"/>
                <a:sym typeface="Arial Bold"/>
              </a:rPr>
              <a:t>Technology Used</a:t>
            </a:r>
          </a:p>
        </p:txBody>
      </p:sp>
      <p:sp>
        <p:nvSpPr>
          <p:cNvPr name="TextBox 3" id="3"/>
          <p:cNvSpPr txBox="true"/>
          <p:nvPr/>
        </p:nvSpPr>
        <p:spPr>
          <a:xfrm rot="0">
            <a:off x="429735" y="2021722"/>
            <a:ext cx="8108037" cy="789304"/>
          </a:xfrm>
          <a:prstGeom prst="rect">
            <a:avLst/>
          </a:prstGeom>
        </p:spPr>
        <p:txBody>
          <a:bodyPr anchor="t" rtlCol="false" tIns="0" lIns="0" bIns="0" rIns="0">
            <a:spAutoFit/>
          </a:bodyPr>
          <a:lstStyle/>
          <a:p>
            <a:pPr algn="ctr">
              <a:lnSpc>
                <a:spcPts val="3220"/>
              </a:lnSpc>
            </a:pPr>
            <a:r>
              <a:rPr lang="en-US" sz="2300" b="true">
                <a:solidFill>
                  <a:srgbClr val="000000"/>
                </a:solidFill>
                <a:latin typeface="Canva Sans Bold"/>
                <a:ea typeface="Canva Sans Bold"/>
                <a:cs typeface="Canva Sans Bold"/>
                <a:sym typeface="Canva Sans Bold"/>
              </a:rPr>
              <a:t>IBM Bob — </a:t>
            </a:r>
            <a:r>
              <a:rPr lang="en-US" sz="2300">
                <a:solidFill>
                  <a:srgbClr val="000000"/>
                </a:solidFill>
                <a:latin typeface="Canva Sans"/>
                <a:ea typeface="Canva Sans"/>
                <a:cs typeface="Canva Sans"/>
                <a:sym typeface="Canva Sans"/>
              </a:rPr>
              <a:t>Full-stack Agentic AI application development </a:t>
            </a:r>
          </a:p>
          <a:p>
            <a:pPr algn="ctr">
              <a:lnSpc>
                <a:spcPts val="3220"/>
              </a:lnSpc>
            </a:pPr>
            <a:r>
              <a:rPr lang="en-US" sz="2300">
                <a:solidFill>
                  <a:srgbClr val="000000"/>
                </a:solidFill>
                <a:latin typeface="Canva Sans"/>
                <a:ea typeface="Canva Sans"/>
                <a:cs typeface="Canva Sans"/>
                <a:sym typeface="Canva Sans"/>
              </a:rPr>
              <a:t>and workflow orchestration.</a:t>
            </a:r>
          </a:p>
        </p:txBody>
      </p:sp>
      <p:sp>
        <p:nvSpPr>
          <p:cNvPr name="TextBox 4" id="4"/>
          <p:cNvSpPr txBox="true"/>
          <p:nvPr/>
        </p:nvSpPr>
        <p:spPr>
          <a:xfrm rot="0">
            <a:off x="9888239" y="3543817"/>
            <a:ext cx="8213884" cy="789304"/>
          </a:xfrm>
          <a:prstGeom prst="rect">
            <a:avLst/>
          </a:prstGeom>
        </p:spPr>
        <p:txBody>
          <a:bodyPr anchor="t" rtlCol="false" tIns="0" lIns="0" bIns="0" rIns="0">
            <a:spAutoFit/>
          </a:bodyPr>
          <a:lstStyle/>
          <a:p>
            <a:pPr algn="l">
              <a:lnSpc>
                <a:spcPts val="3220"/>
              </a:lnSpc>
            </a:pPr>
            <a:r>
              <a:rPr lang="en-US" sz="2300" b="true">
                <a:solidFill>
                  <a:srgbClr val="000000"/>
                </a:solidFill>
                <a:latin typeface="Canva Sans Bold"/>
                <a:ea typeface="Canva Sans Bold"/>
                <a:cs typeface="Canva Sans Bold"/>
                <a:sym typeface="Canva Sans Bold"/>
              </a:rPr>
              <a:t>IBM Granite —</a:t>
            </a:r>
            <a:r>
              <a:rPr lang="en-US" sz="2300">
                <a:solidFill>
                  <a:srgbClr val="000000"/>
                </a:solidFill>
                <a:latin typeface="Canva Sans"/>
                <a:ea typeface="Canva Sans"/>
                <a:cs typeface="Canva Sans"/>
                <a:sym typeface="Canva Sans"/>
              </a:rPr>
              <a:t> Multilingual understanding, reasoning,</a:t>
            </a:r>
          </a:p>
          <a:p>
            <a:pPr algn="l">
              <a:lnSpc>
                <a:spcPts val="3220"/>
              </a:lnSpc>
            </a:pPr>
            <a:r>
              <a:rPr lang="en-US" sz="2300">
                <a:solidFill>
                  <a:srgbClr val="000000"/>
                </a:solidFill>
                <a:latin typeface="Canva Sans"/>
                <a:ea typeface="Canva Sans"/>
                <a:cs typeface="Canva Sans"/>
                <a:sym typeface="Canva Sans"/>
              </a:rPr>
              <a:t> incident summarization, and recommendation generation.</a:t>
            </a:r>
          </a:p>
        </p:txBody>
      </p:sp>
      <p:sp>
        <p:nvSpPr>
          <p:cNvPr name="TextBox 5" id="5"/>
          <p:cNvSpPr txBox="true"/>
          <p:nvPr/>
        </p:nvSpPr>
        <p:spPr>
          <a:xfrm rot="0">
            <a:off x="9823826" y="2021722"/>
            <a:ext cx="8456694" cy="772131"/>
          </a:xfrm>
          <a:prstGeom prst="rect">
            <a:avLst/>
          </a:prstGeom>
        </p:spPr>
        <p:txBody>
          <a:bodyPr anchor="t" rtlCol="false" tIns="0" lIns="0" bIns="0" rIns="0">
            <a:spAutoFit/>
          </a:bodyPr>
          <a:lstStyle/>
          <a:p>
            <a:pPr algn="ctr">
              <a:lnSpc>
                <a:spcPts val="3116"/>
              </a:lnSpc>
            </a:pPr>
            <a:r>
              <a:rPr lang="en-US" b="true" sz="2226">
                <a:solidFill>
                  <a:srgbClr val="000000"/>
                </a:solidFill>
                <a:latin typeface="Canva Sans Bold"/>
                <a:ea typeface="Canva Sans Bold"/>
                <a:cs typeface="Canva Sans Bold"/>
                <a:sym typeface="Canva Sans Bold"/>
              </a:rPr>
              <a:t>IBM Cloud — </a:t>
            </a:r>
            <a:r>
              <a:rPr lang="en-US" sz="2226">
                <a:solidFill>
                  <a:srgbClr val="000000"/>
                </a:solidFill>
                <a:latin typeface="Canva Sans"/>
                <a:ea typeface="Canva Sans"/>
                <a:cs typeface="Canva Sans"/>
                <a:sym typeface="Canva Sans"/>
              </a:rPr>
              <a:t>Cloud infrastructure and integration support for the solution architecture for FLOODGUARD AI.</a:t>
            </a:r>
          </a:p>
        </p:txBody>
      </p:sp>
      <p:sp>
        <p:nvSpPr>
          <p:cNvPr name="TextBox 6" id="6"/>
          <p:cNvSpPr txBox="true"/>
          <p:nvPr/>
        </p:nvSpPr>
        <p:spPr>
          <a:xfrm rot="0">
            <a:off x="373618" y="3534927"/>
            <a:ext cx="8770382" cy="807084"/>
          </a:xfrm>
          <a:prstGeom prst="rect">
            <a:avLst/>
          </a:prstGeom>
        </p:spPr>
        <p:txBody>
          <a:bodyPr anchor="t" rtlCol="false" tIns="0" lIns="0" bIns="0" rIns="0">
            <a:spAutoFit/>
          </a:bodyPr>
          <a:lstStyle/>
          <a:p>
            <a:pPr algn="ctr">
              <a:lnSpc>
                <a:spcPts val="3220"/>
              </a:lnSpc>
            </a:pPr>
            <a:r>
              <a:rPr lang="en-US" sz="2300" b="true">
                <a:solidFill>
                  <a:srgbClr val="000000"/>
                </a:solidFill>
                <a:latin typeface="Canva Sans Bold"/>
                <a:ea typeface="Canva Sans Bold"/>
                <a:cs typeface="Canva Sans Bold"/>
                <a:sym typeface="Canva Sans Bold"/>
              </a:rPr>
              <a:t>Grounded AI —</a:t>
            </a:r>
            <a:r>
              <a:rPr lang="en-US" sz="2300">
                <a:solidFill>
                  <a:srgbClr val="000000"/>
                </a:solidFill>
                <a:latin typeface="Canva Sans"/>
                <a:ea typeface="Canva Sans"/>
                <a:cs typeface="Canva Sans"/>
                <a:sym typeface="Canva Sans"/>
              </a:rPr>
              <a:t> Provides application data as context to Granite</a:t>
            </a:r>
          </a:p>
          <a:p>
            <a:pPr algn="l">
              <a:lnSpc>
                <a:spcPts val="3360"/>
              </a:lnSpc>
            </a:pPr>
            <a:r>
              <a:rPr lang="en-US" sz="2400">
                <a:solidFill>
                  <a:srgbClr val="000000"/>
                </a:solidFill>
                <a:latin typeface="Canva Sans"/>
                <a:ea typeface="Canva Sans"/>
                <a:cs typeface="Canva Sans"/>
                <a:sym typeface="Canva Sans"/>
              </a:rPr>
              <a:t> for reliable, </a:t>
            </a:r>
            <a:r>
              <a:rPr lang="en-US" sz="2400">
                <a:solidFill>
                  <a:srgbClr val="000000"/>
                </a:solidFill>
                <a:latin typeface="Canva Sans"/>
                <a:ea typeface="Canva Sans"/>
                <a:cs typeface="Canva Sans"/>
                <a:sym typeface="Canva Sans"/>
              </a:rPr>
              <a:t>data-grounded responses.</a:t>
            </a:r>
          </a:p>
        </p:txBody>
      </p:sp>
      <p:sp>
        <p:nvSpPr>
          <p:cNvPr name="TextBox 7" id="7"/>
          <p:cNvSpPr txBox="true"/>
          <p:nvPr/>
        </p:nvSpPr>
        <p:spPr>
          <a:xfrm rot="0">
            <a:off x="253106" y="5353794"/>
            <a:ext cx="9232940" cy="807084"/>
          </a:xfrm>
          <a:prstGeom prst="rect">
            <a:avLst/>
          </a:prstGeom>
        </p:spPr>
        <p:txBody>
          <a:bodyPr anchor="t" rtlCol="false" tIns="0" lIns="0" bIns="0" rIns="0">
            <a:spAutoFit/>
          </a:bodyPr>
          <a:lstStyle/>
          <a:p>
            <a:pPr algn="l">
              <a:lnSpc>
                <a:spcPts val="3220"/>
              </a:lnSpc>
            </a:pPr>
            <a:r>
              <a:rPr lang="en-US" sz="2300" b="true">
                <a:solidFill>
                  <a:srgbClr val="000000"/>
                </a:solidFill>
                <a:latin typeface="Canva Sans Bold"/>
                <a:ea typeface="Canva Sans Bold"/>
                <a:cs typeface="Canva Sans Bold"/>
                <a:sym typeface="Canva Sans Bold"/>
              </a:rPr>
              <a:t>Machine Learning — </a:t>
            </a:r>
            <a:r>
              <a:rPr lang="en-US" sz="2300">
                <a:solidFill>
                  <a:srgbClr val="000000"/>
                </a:solidFill>
                <a:latin typeface="Canva Sans"/>
                <a:ea typeface="Canva Sans"/>
                <a:cs typeface="Canva Sans"/>
                <a:sym typeface="Canva Sans"/>
              </a:rPr>
              <a:t>Flood-risk prediction using rainfall, drainage, </a:t>
            </a:r>
          </a:p>
          <a:p>
            <a:pPr algn="l">
              <a:lnSpc>
                <a:spcPts val="3360"/>
              </a:lnSpc>
            </a:pPr>
            <a:r>
              <a:rPr lang="en-US" sz="2400">
                <a:solidFill>
                  <a:srgbClr val="000000"/>
                </a:solidFill>
                <a:latin typeface="Canva Sans"/>
                <a:ea typeface="Canva Sans"/>
                <a:cs typeface="Canva Sans"/>
                <a:sym typeface="Canva Sans"/>
              </a:rPr>
              <a:t>historical incidents, and citizen-report features.</a:t>
            </a:r>
          </a:p>
        </p:txBody>
      </p:sp>
      <p:sp>
        <p:nvSpPr>
          <p:cNvPr name="TextBox 8" id="8"/>
          <p:cNvSpPr txBox="true"/>
          <p:nvPr/>
        </p:nvSpPr>
        <p:spPr>
          <a:xfrm rot="0">
            <a:off x="9888239" y="5144244"/>
            <a:ext cx="7667744" cy="1226184"/>
          </a:xfrm>
          <a:prstGeom prst="rect">
            <a:avLst/>
          </a:prstGeom>
        </p:spPr>
        <p:txBody>
          <a:bodyPr anchor="t" rtlCol="false" tIns="0" lIns="0" bIns="0" rIns="0">
            <a:spAutoFit/>
          </a:bodyPr>
          <a:lstStyle/>
          <a:p>
            <a:pPr algn="l">
              <a:lnSpc>
                <a:spcPts val="3220"/>
              </a:lnSpc>
            </a:pPr>
            <a:r>
              <a:rPr lang="en-US" sz="2300" b="true">
                <a:solidFill>
                  <a:srgbClr val="000000"/>
                </a:solidFill>
                <a:latin typeface="Canva Sans Bold"/>
                <a:ea typeface="Canva Sans Bold"/>
                <a:cs typeface="Canva Sans Bold"/>
                <a:sym typeface="Canva Sans Bold"/>
              </a:rPr>
              <a:t>Geospatial Intelligence —</a:t>
            </a:r>
            <a:r>
              <a:rPr lang="en-US" sz="2300">
                <a:solidFill>
                  <a:srgbClr val="000000"/>
                </a:solidFill>
                <a:latin typeface="Canva Sans"/>
                <a:ea typeface="Canva Sans"/>
                <a:cs typeface="Canva Sans"/>
                <a:sym typeface="Canva Sans"/>
              </a:rPr>
              <a:t> Interactive risk map showing</a:t>
            </a:r>
          </a:p>
          <a:p>
            <a:pPr algn="l">
              <a:lnSpc>
                <a:spcPts val="3360"/>
              </a:lnSpc>
            </a:pPr>
            <a:r>
              <a:rPr lang="en-US" sz="2400">
                <a:solidFill>
                  <a:srgbClr val="000000"/>
                </a:solidFill>
                <a:latin typeface="Canva Sans"/>
                <a:ea typeface="Canva Sans"/>
                <a:cs typeface="Canva Sans"/>
                <a:sym typeface="Canva Sans"/>
              </a:rPr>
              <a:t> flood zones, incidents, drainage locations, and</a:t>
            </a:r>
          </a:p>
          <a:p>
            <a:pPr algn="l">
              <a:lnSpc>
                <a:spcPts val="3360"/>
              </a:lnSpc>
            </a:pPr>
            <a:r>
              <a:rPr lang="en-US" sz="2400">
                <a:solidFill>
                  <a:srgbClr val="000000"/>
                </a:solidFill>
                <a:latin typeface="Canva Sans"/>
                <a:ea typeface="Canva Sans"/>
                <a:cs typeface="Canva Sans"/>
                <a:sym typeface="Canva Sans"/>
              </a:rPr>
              <a:t>response areas.</a:t>
            </a:r>
          </a:p>
        </p:txBody>
      </p:sp>
      <p:sp>
        <p:nvSpPr>
          <p:cNvPr name="TextBox 9" id="9"/>
          <p:cNvSpPr txBox="true"/>
          <p:nvPr/>
        </p:nvSpPr>
        <p:spPr>
          <a:xfrm rot="0">
            <a:off x="7172039" y="7580063"/>
            <a:ext cx="3943921" cy="356234"/>
          </a:xfrm>
          <a:prstGeom prst="rect">
            <a:avLst/>
          </a:prstGeom>
        </p:spPr>
        <p:txBody>
          <a:bodyPr anchor="t" rtlCol="false" tIns="0" lIns="0" bIns="0" rIns="0">
            <a:spAutoFit/>
          </a:bodyPr>
          <a:lstStyle/>
          <a:p>
            <a:pPr algn="ctr">
              <a:lnSpc>
                <a:spcPts val="2940"/>
              </a:lnSpc>
            </a:pPr>
            <a:r>
              <a:rPr lang="en-US" sz="2100" b="true">
                <a:solidFill>
                  <a:srgbClr val="000000"/>
                </a:solidFill>
                <a:latin typeface="Canva Sans Bold"/>
                <a:ea typeface="Canva Sans Bold"/>
                <a:cs typeface="Canva Sans Bold"/>
                <a:sym typeface="Canva Sans Bold"/>
              </a:rPr>
              <a:t>Prototype Data Note</a:t>
            </a:r>
          </a:p>
        </p:txBody>
      </p:sp>
      <p:sp>
        <p:nvSpPr>
          <p:cNvPr name="TextBox 10" id="10"/>
          <p:cNvSpPr txBox="true"/>
          <p:nvPr/>
        </p:nvSpPr>
        <p:spPr>
          <a:xfrm rot="0">
            <a:off x="1943036" y="8186012"/>
            <a:ext cx="14556938" cy="701674"/>
          </a:xfrm>
          <a:prstGeom prst="rect">
            <a:avLst/>
          </a:prstGeom>
        </p:spPr>
        <p:txBody>
          <a:bodyPr anchor="t" rtlCol="false" tIns="0" lIns="0" bIns="0" rIns="0">
            <a:spAutoFit/>
          </a:bodyPr>
          <a:lstStyle/>
          <a:p>
            <a:pPr algn="ctr">
              <a:lnSpc>
                <a:spcPts val="2800"/>
              </a:lnSpc>
            </a:pPr>
            <a:r>
              <a:rPr lang="en-US" sz="2000">
                <a:solidFill>
                  <a:srgbClr val="000000"/>
                </a:solidFill>
                <a:latin typeface="Canva Sans"/>
                <a:ea typeface="Canva Sans"/>
                <a:cs typeface="Canva Sans"/>
                <a:sym typeface="Canva Sans"/>
              </a:rPr>
              <a:t>• FloodGuard </a:t>
            </a:r>
            <a:r>
              <a:rPr lang="en-US" sz="2000">
                <a:solidFill>
                  <a:srgbClr val="000000"/>
                </a:solidFill>
                <a:latin typeface="Canva Sans"/>
                <a:ea typeface="Canva Sans"/>
                <a:cs typeface="Canva Sans"/>
                <a:sym typeface="Canva Sans"/>
              </a:rPr>
              <a:t>AI currently uses synthetic/demo data for hackathon demonstration.</a:t>
            </a:r>
          </a:p>
          <a:p>
            <a:pPr algn="ctr">
              <a:lnSpc>
                <a:spcPts val="2800"/>
              </a:lnSpc>
            </a:pPr>
            <a:r>
              <a:rPr lang="en-US" sz="2000">
                <a:solidFill>
                  <a:srgbClr val="000000"/>
                </a:solidFill>
                <a:latin typeface="Canva Sans"/>
                <a:ea typeface="Canva Sans"/>
                <a:cs typeface="Canva Sans"/>
                <a:sym typeface="Canva Sans"/>
              </a:rPr>
              <a:t> Production deployment can integrate real rainfall, drainage, GIS, and historical flood datasets from authorized sources.</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806386" y="475336"/>
            <a:ext cx="8863394" cy="682285"/>
          </a:xfrm>
          <a:prstGeom prst="rect">
            <a:avLst/>
          </a:prstGeom>
        </p:spPr>
        <p:txBody>
          <a:bodyPr anchor="t" rtlCol="false" tIns="0" lIns="0" bIns="0" rIns="0">
            <a:spAutoFit/>
          </a:bodyPr>
          <a:lstStyle/>
          <a:p>
            <a:pPr algn="l">
              <a:lnSpc>
                <a:spcPts val="2520"/>
              </a:lnSpc>
            </a:pPr>
            <a:r>
              <a:rPr lang="en-US" sz="2100">
                <a:solidFill>
                  <a:srgbClr val="000000"/>
                </a:solidFill>
                <a:latin typeface="Arial"/>
                <a:ea typeface="Arial"/>
                <a:cs typeface="Arial"/>
                <a:sym typeface="Arial"/>
              </a:rPr>
              <a:t>Core Components Used –</a:t>
            </a:r>
          </a:p>
        </p:txBody>
      </p:sp>
      <p:sp>
        <p:nvSpPr>
          <p:cNvPr name="TextBox 3" id="3"/>
          <p:cNvSpPr txBox="true"/>
          <p:nvPr/>
        </p:nvSpPr>
        <p:spPr>
          <a:xfrm rot="0">
            <a:off x="803672" y="1330976"/>
            <a:ext cx="13053060" cy="7812557"/>
          </a:xfrm>
          <a:prstGeom prst="rect">
            <a:avLst/>
          </a:prstGeom>
        </p:spPr>
        <p:txBody>
          <a:bodyPr anchor="t" rtlCol="false" tIns="0" lIns="0" bIns="0" rIns="0">
            <a:spAutoFit/>
          </a:bodyPr>
          <a:lstStyle/>
          <a:p>
            <a:pPr algn="l">
              <a:lnSpc>
                <a:spcPts val="2520"/>
              </a:lnSpc>
            </a:pPr>
          </a:p>
          <a:p>
            <a:pPr algn="l">
              <a:lnSpc>
                <a:spcPts val="2520"/>
              </a:lnSpc>
            </a:pPr>
            <a:r>
              <a:rPr lang="en-US" sz="2100">
                <a:solidFill>
                  <a:srgbClr val="000000"/>
                </a:solidFill>
                <a:latin typeface="Arial"/>
                <a:ea typeface="Arial"/>
                <a:cs typeface="Arial"/>
                <a:sym typeface="Arial"/>
              </a:rPr>
              <a:t>1) Citizen Input – Interface for text, optional voice and image-based flood reports.</a:t>
            </a:r>
          </a:p>
          <a:p>
            <a:pPr algn="l">
              <a:lnSpc>
                <a:spcPts val="2520"/>
              </a:lnSpc>
            </a:pPr>
          </a:p>
          <a:p>
            <a:pPr algn="l">
              <a:lnSpc>
                <a:spcPts val="2520"/>
              </a:lnSpc>
            </a:pPr>
            <a:r>
              <a:rPr lang="en-US" sz="2100">
                <a:solidFill>
                  <a:srgbClr val="000000"/>
                </a:solidFill>
                <a:latin typeface="Arial"/>
                <a:ea typeface="Arial"/>
                <a:cs typeface="Arial"/>
                <a:sym typeface="Arial"/>
              </a:rPr>
              <a:t>2) IBM Granite Agent – Understands reports, summarizes incidents and generates grounded recommendations. </a:t>
            </a:r>
          </a:p>
          <a:p>
            <a:pPr algn="l">
              <a:lnSpc>
                <a:spcPts val="2520"/>
              </a:lnSpc>
            </a:pPr>
          </a:p>
          <a:p>
            <a:pPr algn="l">
              <a:lnSpc>
                <a:spcPts val="2520"/>
              </a:lnSpc>
            </a:pPr>
            <a:r>
              <a:rPr lang="en-US" sz="2100">
                <a:solidFill>
                  <a:srgbClr val="000000"/>
                </a:solidFill>
                <a:latin typeface="Arial"/>
                <a:ea typeface="Arial"/>
                <a:cs typeface="Arial"/>
                <a:sym typeface="Arial"/>
              </a:rPr>
              <a:t>3) IBM Granite Model – Used for multilingual understanding, reasoning and explanation.</a:t>
            </a:r>
          </a:p>
          <a:p>
            <a:pPr algn="l">
              <a:lnSpc>
                <a:spcPts val="2520"/>
              </a:lnSpc>
            </a:pPr>
          </a:p>
          <a:p>
            <a:pPr algn="l">
              <a:lnSpc>
                <a:spcPts val="2520"/>
              </a:lnSpc>
            </a:pPr>
            <a:r>
              <a:rPr lang="en-US" sz="2100">
                <a:solidFill>
                  <a:srgbClr val="000000"/>
                </a:solidFill>
                <a:latin typeface="Arial"/>
                <a:ea typeface="Arial"/>
                <a:cs typeface="Arial"/>
                <a:sym typeface="Arial"/>
              </a:rPr>
              <a:t>4) AI Output – Displays risk explanations, incident summaries and recommended actions. </a:t>
            </a:r>
          </a:p>
          <a:p>
            <a:pPr algn="l">
              <a:lnSpc>
                <a:spcPts val="2520"/>
              </a:lnSpc>
            </a:pPr>
          </a:p>
          <a:p>
            <a:pPr algn="l">
              <a:lnSpc>
                <a:spcPts val="2520"/>
              </a:lnSpc>
            </a:pPr>
            <a:r>
              <a:rPr lang="en-US" sz="2100">
                <a:solidFill>
                  <a:srgbClr val="000000"/>
                </a:solidFill>
                <a:latin typeface="Arial"/>
                <a:ea typeface="Arial"/>
                <a:cs typeface="Arial"/>
                <a:sym typeface="Arial"/>
              </a:rPr>
              <a:t>5) Data Layer – Stores rainfall, incidents, drains, reports, risk predictions and audit logs.</a:t>
            </a:r>
          </a:p>
          <a:p>
            <a:pPr algn="l">
              <a:lnSpc>
                <a:spcPts val="2520"/>
              </a:lnSpc>
            </a:pPr>
          </a:p>
          <a:p>
            <a:pPr algn="l">
              <a:lnSpc>
                <a:spcPts val="2520"/>
              </a:lnSpc>
            </a:pPr>
          </a:p>
          <a:p>
            <a:pPr algn="l">
              <a:lnSpc>
                <a:spcPts val="2520"/>
              </a:lnSpc>
            </a:pPr>
            <a:r>
              <a:rPr lang="en-US" sz="2100">
                <a:solidFill>
                  <a:srgbClr val="000000"/>
                </a:solidFill>
                <a:latin typeface="Arial"/>
                <a:ea typeface="Arial"/>
                <a:cs typeface="Arial"/>
                <a:sym typeface="Arial"/>
              </a:rPr>
              <a:t>6) Interactive Map &amp; Dashboard – Visualizes flood risk, incidents, drainage and response activity.</a:t>
            </a:r>
          </a:p>
          <a:p>
            <a:pPr algn="l">
              <a:lnSpc>
                <a:spcPts val="2520"/>
              </a:lnSpc>
            </a:pPr>
          </a:p>
          <a:p>
            <a:pPr algn="l">
              <a:lnSpc>
                <a:spcPts val="2520"/>
              </a:lnSpc>
            </a:pPr>
          </a:p>
          <a:p>
            <a:pPr algn="l">
              <a:lnSpc>
                <a:spcPts val="2520"/>
              </a:lnSpc>
            </a:pPr>
          </a:p>
          <a:p>
            <a:pPr algn="l">
              <a:lnSpc>
                <a:spcPts val="2520"/>
              </a:lnSpc>
            </a:pPr>
          </a:p>
          <a:p>
            <a:pPr algn="l">
              <a:lnSpc>
                <a:spcPts val="2520"/>
              </a:lnSpc>
            </a:pPr>
          </a:p>
          <a:p>
            <a:pPr algn="l">
              <a:lnSpc>
                <a:spcPts val="2520"/>
              </a:lnSpc>
            </a:pPr>
          </a:p>
          <a:p>
            <a:pPr algn="l">
              <a:lnSpc>
                <a:spcPts val="2520"/>
              </a:lnSpc>
            </a:pPr>
          </a:p>
          <a:p>
            <a:pPr algn="l">
              <a:lnSpc>
                <a:spcPts val="2520"/>
              </a:lnSpc>
            </a:pPr>
            <a:r>
              <a:rPr lang="en-US" sz="2100">
                <a:solidFill>
                  <a:srgbClr val="000000"/>
                </a:solidFill>
                <a:latin typeface="Arial"/>
                <a:ea typeface="Arial"/>
                <a:cs typeface="Arial"/>
                <a:sym typeface="Arial"/>
              </a:rPr>
              <a:t>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816" t="0" r="-2816"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59313"/>
            <a:ext cx="18288000" cy="10261164"/>
          </a:xfrm>
          <a:custGeom>
            <a:avLst/>
            <a:gdLst/>
            <a:ahLst/>
            <a:cxnLst/>
            <a:rect r="r" b="b" t="t" l="l"/>
            <a:pathLst>
              <a:path h="10261164" w="18288000">
                <a:moveTo>
                  <a:pt x="0" y="0"/>
                </a:moveTo>
                <a:lnTo>
                  <a:pt x="18288000" y="0"/>
                </a:lnTo>
                <a:lnTo>
                  <a:pt x="18288000" y="10261164"/>
                </a:lnTo>
                <a:lnTo>
                  <a:pt x="0" y="10261164"/>
                </a:lnTo>
                <a:lnTo>
                  <a:pt x="0" y="0"/>
                </a:lnTo>
                <a:close/>
              </a:path>
            </a:pathLst>
          </a:custGeom>
          <a:blipFill>
            <a:blip r:embed="rId2"/>
            <a:stretch>
              <a:fillRect l="-3176" t="0" r="-2353" b="-5794"/>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510" t="0" r="-2182" b="-5693"/>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771840"/>
          </a:xfrm>
          <a:custGeom>
            <a:avLst/>
            <a:gdLst/>
            <a:ahLst/>
            <a:cxnLst/>
            <a:rect r="r" b="b" t="t" l="l"/>
            <a:pathLst>
              <a:path h="10771840" w="18288000">
                <a:moveTo>
                  <a:pt x="0" y="0"/>
                </a:moveTo>
                <a:lnTo>
                  <a:pt x="18288000" y="0"/>
                </a:lnTo>
                <a:lnTo>
                  <a:pt x="18288000" y="10771840"/>
                </a:lnTo>
                <a:lnTo>
                  <a:pt x="0" y="10771840"/>
                </a:lnTo>
                <a:lnTo>
                  <a:pt x="0" y="0"/>
                </a:lnTo>
                <a:close/>
              </a:path>
            </a:pathLst>
          </a:custGeom>
          <a:blipFill>
            <a:blip r:embed="rId2"/>
            <a:stretch>
              <a:fillRect l="-3871" t="0" r="-841"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56886" y="0"/>
            <a:ext cx="18744886" cy="10287000"/>
          </a:xfrm>
          <a:custGeom>
            <a:avLst/>
            <a:gdLst/>
            <a:ahLst/>
            <a:cxnLst/>
            <a:rect r="r" b="b" t="t" l="l"/>
            <a:pathLst>
              <a:path h="10287000" w="18744886">
                <a:moveTo>
                  <a:pt x="0" y="0"/>
                </a:moveTo>
                <a:lnTo>
                  <a:pt x="18744886" y="0"/>
                </a:lnTo>
                <a:lnTo>
                  <a:pt x="18744886" y="10287000"/>
                </a:lnTo>
                <a:lnTo>
                  <a:pt x="0" y="10287000"/>
                </a:lnTo>
                <a:lnTo>
                  <a:pt x="0" y="0"/>
                </a:lnTo>
                <a:close/>
              </a:path>
            </a:pathLst>
          </a:custGeom>
          <a:blipFill>
            <a:blip r:embed="rId2"/>
            <a:stretch>
              <a:fillRect l="-1092" t="0" r="-1711" b="-5372"/>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05599" y="0"/>
            <a:ext cx="18493599" cy="10287000"/>
          </a:xfrm>
          <a:custGeom>
            <a:avLst/>
            <a:gdLst/>
            <a:ahLst/>
            <a:cxnLst/>
            <a:rect r="r" b="b" t="t" l="l"/>
            <a:pathLst>
              <a:path h="10287000" w="18493599">
                <a:moveTo>
                  <a:pt x="0" y="0"/>
                </a:moveTo>
                <a:lnTo>
                  <a:pt x="18493599" y="0"/>
                </a:lnTo>
                <a:lnTo>
                  <a:pt x="18493599" y="10287000"/>
                </a:lnTo>
                <a:lnTo>
                  <a:pt x="0" y="10287000"/>
                </a:lnTo>
                <a:lnTo>
                  <a:pt x="0" y="0"/>
                </a:lnTo>
                <a:close/>
              </a:path>
            </a:pathLst>
          </a:custGeom>
          <a:blipFill>
            <a:blip r:embed="rId2"/>
            <a:stretch>
              <a:fillRect l="-3818" t="0" r="-715" b="-5708"/>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630" t="0" r="-2630" b="-5261"/>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42664" y="0"/>
            <a:ext cx="18630664" cy="10287000"/>
          </a:xfrm>
          <a:custGeom>
            <a:avLst/>
            <a:gdLst/>
            <a:ahLst/>
            <a:cxnLst/>
            <a:rect r="r" b="b" t="t" l="l"/>
            <a:pathLst>
              <a:path h="10287000" w="18630664">
                <a:moveTo>
                  <a:pt x="0" y="0"/>
                </a:moveTo>
                <a:lnTo>
                  <a:pt x="18630664" y="0"/>
                </a:lnTo>
                <a:lnTo>
                  <a:pt x="18630664" y="10287000"/>
                </a:lnTo>
                <a:lnTo>
                  <a:pt x="0" y="10287000"/>
                </a:lnTo>
                <a:lnTo>
                  <a:pt x="0" y="0"/>
                </a:lnTo>
                <a:close/>
              </a:path>
            </a:pathLst>
          </a:custGeom>
          <a:blipFill>
            <a:blip r:embed="rId2"/>
            <a:stretch>
              <a:fillRect l="-3690" t="-281" r="0" b="-5351"/>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475" t="0" r="-1966" b="-5441"/>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4409" t="0" r="0" b="-4409"/>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7066" y="0"/>
            <a:ext cx="18150934" cy="10287000"/>
          </a:xfrm>
          <a:custGeom>
            <a:avLst/>
            <a:gdLst/>
            <a:ahLst/>
            <a:cxnLst/>
            <a:rect r="r" b="b" t="t" l="l"/>
            <a:pathLst>
              <a:path h="10287000" w="18150934">
                <a:moveTo>
                  <a:pt x="0" y="0"/>
                </a:moveTo>
                <a:lnTo>
                  <a:pt x="18150934" y="0"/>
                </a:lnTo>
                <a:lnTo>
                  <a:pt x="18150934" y="10287000"/>
                </a:lnTo>
                <a:lnTo>
                  <a:pt x="0" y="10287000"/>
                </a:lnTo>
                <a:lnTo>
                  <a:pt x="0" y="0"/>
                </a:lnTo>
                <a:close/>
              </a:path>
            </a:pathLst>
          </a:custGeom>
          <a:blipFill>
            <a:blip r:embed="rId2"/>
            <a:stretch>
              <a:fillRect l="0" t="-3648" r="-755" b="-3648"/>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72251"/>
            <a:ext cx="18288000" cy="9342497"/>
          </a:xfrm>
          <a:custGeom>
            <a:avLst/>
            <a:gdLst/>
            <a:ahLst/>
            <a:cxnLst/>
            <a:rect r="r" b="b" t="t" l="l"/>
            <a:pathLst>
              <a:path h="9342497" w="18288000">
                <a:moveTo>
                  <a:pt x="0" y="0"/>
                </a:moveTo>
                <a:lnTo>
                  <a:pt x="18288000" y="0"/>
                </a:lnTo>
                <a:lnTo>
                  <a:pt x="18288000" y="9342498"/>
                </a:lnTo>
                <a:lnTo>
                  <a:pt x="0" y="9342498"/>
                </a:lnTo>
                <a:lnTo>
                  <a:pt x="0" y="0"/>
                </a:lnTo>
                <a:close/>
              </a:path>
            </a:pathLst>
          </a:custGeom>
          <a:blipFill>
            <a:blip r:embed="rId2"/>
            <a:stretch>
              <a:fillRect l="0" t="-689"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581085" y="222221"/>
            <a:ext cx="4414101" cy="6621156"/>
            <a:chOff x="0" y="0"/>
            <a:chExt cx="6030684" cy="9046032"/>
          </a:xfrm>
        </p:grpSpPr>
        <p:sp>
          <p:nvSpPr>
            <p:cNvPr name="Freeform 3" id="3"/>
            <p:cNvSpPr/>
            <p:nvPr/>
          </p:nvSpPr>
          <p:spPr>
            <a:xfrm flipH="false" flipV="false" rot="0">
              <a:off x="0" y="0"/>
              <a:ext cx="6030722" cy="9046083"/>
            </a:xfrm>
            <a:custGeom>
              <a:avLst/>
              <a:gdLst/>
              <a:ahLst/>
              <a:cxnLst/>
              <a:rect r="r" b="b" t="t" l="l"/>
              <a:pathLst>
                <a:path h="9046083" w="6030722">
                  <a:moveTo>
                    <a:pt x="0" y="0"/>
                  </a:moveTo>
                  <a:lnTo>
                    <a:pt x="6030722" y="0"/>
                  </a:lnTo>
                  <a:lnTo>
                    <a:pt x="6030722" y="9046083"/>
                  </a:lnTo>
                  <a:lnTo>
                    <a:pt x="0" y="9046083"/>
                  </a:lnTo>
                  <a:lnTo>
                    <a:pt x="0" y="0"/>
                  </a:lnTo>
                  <a:close/>
                </a:path>
              </a:pathLst>
            </a:custGeom>
            <a:blipFill>
              <a:blip r:embed="rId3"/>
              <a:stretch>
                <a:fillRect l="0" t="0" r="0" b="0"/>
              </a:stretch>
            </a:blipFill>
          </p:spPr>
        </p:sp>
      </p:grpSp>
      <p:sp>
        <p:nvSpPr>
          <p:cNvPr name="TextBox 4" id="4"/>
          <p:cNvSpPr txBox="true"/>
          <p:nvPr/>
        </p:nvSpPr>
        <p:spPr>
          <a:xfrm rot="0">
            <a:off x="804672" y="451866"/>
            <a:ext cx="13793724" cy="804777"/>
          </a:xfrm>
          <a:prstGeom prst="rect">
            <a:avLst/>
          </a:prstGeom>
        </p:spPr>
        <p:txBody>
          <a:bodyPr anchor="t" rtlCol="false" tIns="0" lIns="0" bIns="0" rIns="0">
            <a:spAutoFit/>
          </a:bodyPr>
          <a:lstStyle/>
          <a:p>
            <a:pPr algn="l">
              <a:lnSpc>
                <a:spcPts val="5759"/>
              </a:lnSpc>
            </a:pPr>
            <a:r>
              <a:rPr lang="en-US" sz="4800" b="true">
                <a:solidFill>
                  <a:srgbClr val="000000"/>
                </a:solidFill>
                <a:latin typeface="Arial Bold"/>
                <a:ea typeface="Arial Bold"/>
                <a:cs typeface="Arial Bold"/>
                <a:sym typeface="Arial Bold"/>
              </a:rPr>
              <a:t>Role of Agentic AI in the solution </a:t>
            </a:r>
          </a:p>
        </p:txBody>
      </p:sp>
      <p:sp>
        <p:nvSpPr>
          <p:cNvPr name="TextBox 5" id="5"/>
          <p:cNvSpPr txBox="true"/>
          <p:nvPr/>
        </p:nvSpPr>
        <p:spPr>
          <a:xfrm rot="0">
            <a:off x="0" y="1183422"/>
            <a:ext cx="13149517" cy="5772024"/>
          </a:xfrm>
          <a:prstGeom prst="rect">
            <a:avLst/>
          </a:prstGeom>
        </p:spPr>
        <p:txBody>
          <a:bodyPr anchor="t" rtlCol="false" tIns="0" lIns="0" bIns="0" rIns="0">
            <a:spAutoFit/>
          </a:bodyPr>
          <a:lstStyle/>
          <a:p>
            <a:pPr algn="just">
              <a:lnSpc>
                <a:spcPts val="4306"/>
              </a:lnSpc>
            </a:pPr>
          </a:p>
          <a:p>
            <a:pPr algn="just" marL="477852" indent="-238926" lvl="1">
              <a:lnSpc>
                <a:spcPts val="4306"/>
              </a:lnSpc>
              <a:buFont typeface="Arial"/>
              <a:buChar char="•"/>
            </a:pPr>
            <a:r>
              <a:rPr lang="en-US" b="true" sz="2213">
                <a:solidFill>
                  <a:srgbClr val="000000"/>
                </a:solidFill>
                <a:latin typeface="Times New Roman Bold"/>
                <a:ea typeface="Times New Roman Bold"/>
                <a:cs typeface="Times New Roman Bold"/>
                <a:sym typeface="Times New Roman Bold"/>
              </a:rPr>
              <a:t>Agentic AI</a:t>
            </a:r>
            <a:r>
              <a:rPr lang="en-US" sz="2213">
                <a:solidFill>
                  <a:srgbClr val="000000"/>
                </a:solidFill>
                <a:latin typeface="Times New Roman"/>
                <a:ea typeface="Times New Roman"/>
                <a:cs typeface="Times New Roman"/>
                <a:sym typeface="Times New Roman"/>
              </a:rPr>
              <a:t> turns FLOODGUARD AI into a </a:t>
            </a:r>
            <a:r>
              <a:rPr lang="en-US" b="true" sz="2213">
                <a:solidFill>
                  <a:srgbClr val="000000"/>
                </a:solidFill>
                <a:latin typeface="Times New Roman Bold"/>
                <a:ea typeface="Times New Roman Bold"/>
                <a:cs typeface="Times New Roman Bold"/>
                <a:sym typeface="Times New Roman Bold"/>
              </a:rPr>
              <a:t>coordinated decision-support</a:t>
            </a:r>
            <a:r>
              <a:rPr lang="en-US" sz="2213">
                <a:solidFill>
                  <a:srgbClr val="000000"/>
                </a:solidFill>
                <a:latin typeface="Times New Roman"/>
                <a:ea typeface="Times New Roman"/>
                <a:cs typeface="Times New Roman"/>
                <a:sym typeface="Times New Roman"/>
              </a:rPr>
              <a:t> </a:t>
            </a:r>
            <a:r>
              <a:rPr lang="en-US" b="true" sz="2213">
                <a:solidFill>
                  <a:srgbClr val="000000"/>
                </a:solidFill>
                <a:latin typeface="Times New Roman Bold"/>
                <a:ea typeface="Times New Roman Bold"/>
                <a:cs typeface="Times New Roman Bold"/>
                <a:sym typeface="Times New Roman Bold"/>
              </a:rPr>
              <a:t>system</a:t>
            </a:r>
            <a:r>
              <a:rPr lang="en-US" sz="2213">
                <a:solidFill>
                  <a:srgbClr val="000000"/>
                </a:solidFill>
                <a:latin typeface="Times New Roman"/>
                <a:ea typeface="Times New Roman"/>
                <a:cs typeface="Times New Roman"/>
                <a:sym typeface="Times New Roman"/>
              </a:rPr>
              <a:t> where specialized agents collaborate through an orchestration layer.</a:t>
            </a:r>
          </a:p>
          <a:p>
            <a:pPr algn="just" marL="477852" indent="-238926" lvl="1">
              <a:lnSpc>
                <a:spcPts val="4306"/>
              </a:lnSpc>
              <a:buFont typeface="Arial"/>
              <a:buChar char="•"/>
            </a:pPr>
            <a:r>
              <a:rPr lang="en-US" sz="2213">
                <a:solidFill>
                  <a:srgbClr val="000000"/>
                </a:solidFill>
                <a:latin typeface="Times New Roman"/>
                <a:ea typeface="Times New Roman"/>
                <a:cs typeface="Times New Roman"/>
                <a:sym typeface="Times New Roman"/>
              </a:rPr>
              <a:t>Each agent performs a specific role:</a:t>
            </a:r>
          </a:p>
          <a:p>
            <a:pPr algn="just" marL="456263" indent="-228131" lvl="1">
              <a:lnSpc>
                <a:spcPts val="4112"/>
              </a:lnSpc>
              <a:buFont typeface="Arial"/>
              <a:buChar char="•"/>
            </a:pPr>
            <a:r>
              <a:rPr lang="en-US" b="true" sz="2113">
                <a:solidFill>
                  <a:srgbClr val="000000"/>
                </a:solidFill>
                <a:latin typeface="Times New Roman Bold"/>
                <a:ea typeface="Times New Roman Bold"/>
                <a:cs typeface="Times New Roman Bold"/>
                <a:sym typeface="Times New Roman Bold"/>
              </a:rPr>
              <a:t>Risk Prediction –</a:t>
            </a:r>
            <a:r>
              <a:rPr lang="en-US" sz="2113">
                <a:solidFill>
                  <a:srgbClr val="000000"/>
                </a:solidFill>
                <a:latin typeface="Times New Roman"/>
                <a:ea typeface="Times New Roman"/>
                <a:cs typeface="Times New Roman"/>
                <a:sym typeface="Times New Roman"/>
              </a:rPr>
              <a:t> Identifies changing flood-risk levels.</a:t>
            </a:r>
          </a:p>
          <a:p>
            <a:pPr algn="just" marL="456263" indent="-228131" lvl="1">
              <a:lnSpc>
                <a:spcPts val="4112"/>
              </a:lnSpc>
              <a:buFont typeface="Arial"/>
              <a:buChar char="•"/>
            </a:pPr>
            <a:r>
              <a:rPr lang="en-US" b="true" sz="2113">
                <a:solidFill>
                  <a:srgbClr val="000000"/>
                </a:solidFill>
                <a:latin typeface="Times New Roman Bold"/>
                <a:ea typeface="Times New Roman Bold"/>
                <a:cs typeface="Times New Roman Bold"/>
                <a:sym typeface="Times New Roman Bold"/>
              </a:rPr>
              <a:t>Drainage Prioritization – </a:t>
            </a:r>
            <a:r>
              <a:rPr lang="en-US" sz="2113">
                <a:solidFill>
                  <a:srgbClr val="000000"/>
                </a:solidFill>
                <a:latin typeface="Times New Roman"/>
                <a:ea typeface="Times New Roman"/>
                <a:cs typeface="Times New Roman"/>
                <a:sym typeface="Times New Roman"/>
              </a:rPr>
              <a:t>Finds vulnerable drainage locations.</a:t>
            </a:r>
          </a:p>
          <a:p>
            <a:pPr algn="just" marL="456263" indent="-228131" lvl="1">
              <a:lnSpc>
                <a:spcPts val="4112"/>
              </a:lnSpc>
              <a:buFont typeface="Arial"/>
              <a:buChar char="•"/>
            </a:pPr>
            <a:r>
              <a:rPr lang="en-US" b="true" sz="2113">
                <a:solidFill>
                  <a:srgbClr val="000000"/>
                </a:solidFill>
                <a:latin typeface="Times New Roman Bold"/>
                <a:ea typeface="Times New Roman Bold"/>
                <a:cs typeface="Times New Roman Bold"/>
                <a:sym typeface="Times New Roman Bold"/>
              </a:rPr>
              <a:t>Citizen Report Understanding –</a:t>
            </a:r>
            <a:r>
              <a:rPr lang="en-US" sz="2113">
                <a:solidFill>
                  <a:srgbClr val="000000"/>
                </a:solidFill>
                <a:latin typeface="Times New Roman"/>
                <a:ea typeface="Times New Roman"/>
                <a:cs typeface="Times New Roman"/>
                <a:sym typeface="Times New Roman"/>
              </a:rPr>
              <a:t> Classifies and analyzes flood reports.</a:t>
            </a:r>
          </a:p>
          <a:p>
            <a:pPr algn="just" marL="456263" indent="-228131" lvl="1">
              <a:lnSpc>
                <a:spcPts val="4112"/>
              </a:lnSpc>
              <a:buFont typeface="Arial"/>
              <a:buChar char="•"/>
            </a:pPr>
            <a:r>
              <a:rPr lang="en-US" b="true" sz="2113">
                <a:solidFill>
                  <a:srgbClr val="000000"/>
                </a:solidFill>
                <a:latin typeface="Times New Roman Bold"/>
                <a:ea typeface="Times New Roman Bold"/>
                <a:cs typeface="Times New Roman Bold"/>
                <a:sym typeface="Times New Roman Bold"/>
              </a:rPr>
              <a:t>Civic Response Planning –</a:t>
            </a:r>
            <a:r>
              <a:rPr lang="en-US" sz="2113">
                <a:solidFill>
                  <a:srgbClr val="000000"/>
                </a:solidFill>
                <a:latin typeface="Times New Roman"/>
                <a:ea typeface="Times New Roman"/>
                <a:cs typeface="Times New Roman"/>
                <a:sym typeface="Times New Roman"/>
              </a:rPr>
              <a:t> Converts agent insights into prioritized actions.</a:t>
            </a:r>
          </a:p>
          <a:p>
            <a:pPr algn="just" marL="456263" indent="-228131" lvl="1">
              <a:lnSpc>
                <a:spcPts val="4112"/>
              </a:lnSpc>
              <a:buFont typeface="Arial"/>
              <a:buChar char="•"/>
            </a:pPr>
            <a:r>
              <a:rPr lang="en-US" sz="2113">
                <a:solidFill>
                  <a:srgbClr val="000000"/>
                </a:solidFill>
                <a:latin typeface="Times New Roman"/>
                <a:ea typeface="Times New Roman"/>
                <a:cs typeface="Times New Roman"/>
                <a:sym typeface="Times New Roman"/>
              </a:rPr>
              <a:t>The system is </a:t>
            </a:r>
            <a:r>
              <a:rPr lang="en-US" b="true" sz="2113">
                <a:solidFill>
                  <a:srgbClr val="000000"/>
                </a:solidFill>
                <a:latin typeface="Times New Roman Bold"/>
                <a:ea typeface="Times New Roman Bold"/>
                <a:cs typeface="Times New Roman Bold"/>
                <a:sym typeface="Times New Roman Bold"/>
              </a:rPr>
              <a:t>context-aware,</a:t>
            </a:r>
            <a:r>
              <a:rPr lang="en-US" sz="2113">
                <a:solidFill>
                  <a:srgbClr val="000000"/>
                </a:solidFill>
                <a:latin typeface="Times New Roman"/>
                <a:ea typeface="Times New Roman"/>
                <a:cs typeface="Times New Roman"/>
                <a:sym typeface="Times New Roman"/>
              </a:rPr>
              <a:t> allowing new rainfall data, citizen reports, and drainage conditions to update risk and recommendations.</a:t>
            </a:r>
            <a:r>
              <a:rPr lang="en-US" b="true" sz="2113">
                <a:solidFill>
                  <a:srgbClr val="000000"/>
                </a:solidFill>
                <a:latin typeface="Times New Roman Bold"/>
                <a:ea typeface="Times New Roman Bold"/>
                <a:cs typeface="Times New Roman Bold"/>
                <a:sym typeface="Times New Roman Bold"/>
              </a:rPr>
              <a:t> IBM Granite</a:t>
            </a:r>
            <a:r>
              <a:rPr lang="en-US" sz="2113">
                <a:solidFill>
                  <a:srgbClr val="000000"/>
                </a:solidFill>
                <a:latin typeface="Times New Roman"/>
                <a:ea typeface="Times New Roman"/>
                <a:cs typeface="Times New Roman"/>
                <a:sym typeface="Times New Roman"/>
              </a:rPr>
              <a:t> provides </a:t>
            </a:r>
            <a:r>
              <a:rPr lang="en-US" b="true" sz="2113">
                <a:solidFill>
                  <a:srgbClr val="000000"/>
                </a:solidFill>
                <a:latin typeface="Times New Roman Bold"/>
                <a:ea typeface="Times New Roman Bold"/>
                <a:cs typeface="Times New Roman Bold"/>
                <a:sym typeface="Times New Roman Bold"/>
              </a:rPr>
              <a:t>grounded explanations</a:t>
            </a:r>
            <a:r>
              <a:rPr lang="en-US" sz="2113">
                <a:solidFill>
                  <a:srgbClr val="000000"/>
                </a:solidFill>
                <a:latin typeface="Times New Roman"/>
                <a:ea typeface="Times New Roman"/>
                <a:cs typeface="Times New Roman"/>
                <a:sym typeface="Times New Roman"/>
              </a:rPr>
              <a:t> using application data.</a:t>
            </a:r>
          </a:p>
          <a:p>
            <a:pPr algn="just" marL="477852" indent="-238926" lvl="1">
              <a:lnSpc>
                <a:spcPts val="4306"/>
              </a:lnSpc>
              <a:buFont typeface="Arial"/>
              <a:buChar char="•"/>
            </a:pPr>
            <a:r>
              <a:rPr lang="en-US" sz="2213">
                <a:solidFill>
                  <a:srgbClr val="000000"/>
                </a:solidFill>
                <a:latin typeface="Times New Roman"/>
                <a:ea typeface="Times New Roman"/>
                <a:cs typeface="Times New Roman"/>
                <a:sym typeface="Times New Roman"/>
              </a:rPr>
              <a:t>Through agent collaboration, FLOODGUARD AI moves from:</a:t>
            </a:r>
          </a:p>
        </p:txBody>
      </p:sp>
      <p:sp>
        <p:nvSpPr>
          <p:cNvPr name="TextBox 6" id="6"/>
          <p:cNvSpPr txBox="true"/>
          <p:nvPr/>
        </p:nvSpPr>
        <p:spPr>
          <a:xfrm rot="0">
            <a:off x="57270" y="8473713"/>
            <a:ext cx="18230730" cy="869949"/>
          </a:xfrm>
          <a:prstGeom prst="rect">
            <a:avLst/>
          </a:prstGeom>
        </p:spPr>
        <p:txBody>
          <a:bodyPr anchor="t" rtlCol="false" tIns="0" lIns="0" bIns="0" rIns="0">
            <a:spAutoFit/>
          </a:bodyPr>
          <a:lstStyle/>
          <a:p>
            <a:pPr algn="ctr">
              <a:lnSpc>
                <a:spcPts val="3500"/>
              </a:lnSpc>
            </a:pPr>
            <a:r>
              <a:rPr lang="en-US" sz="2500" b="true">
                <a:solidFill>
                  <a:srgbClr val="000000"/>
                </a:solidFill>
                <a:latin typeface="Canva Sans Bold"/>
                <a:ea typeface="Canva Sans Bold"/>
                <a:cs typeface="Canva Sans Bold"/>
                <a:sym typeface="Canva Sans Bold"/>
              </a:rPr>
              <a:t>“FloodGuard AI doesn't just predict flooding. It converts prediction + citizen reports + drainage information into prioritized actions.”</a:t>
            </a:r>
          </a:p>
        </p:txBody>
      </p:sp>
      <p:sp>
        <p:nvSpPr>
          <p:cNvPr name="TextBox 7" id="7"/>
          <p:cNvSpPr txBox="true"/>
          <p:nvPr/>
        </p:nvSpPr>
        <p:spPr>
          <a:xfrm rot="0">
            <a:off x="2525923" y="7528207"/>
            <a:ext cx="12471797" cy="389254"/>
          </a:xfrm>
          <a:prstGeom prst="rect">
            <a:avLst/>
          </a:prstGeom>
        </p:spPr>
        <p:txBody>
          <a:bodyPr anchor="t" rtlCol="false" tIns="0" lIns="0" bIns="0" rIns="0">
            <a:spAutoFit/>
          </a:bodyPr>
          <a:lstStyle/>
          <a:p>
            <a:pPr algn="ctr">
              <a:lnSpc>
                <a:spcPts val="3220"/>
              </a:lnSpc>
            </a:pPr>
            <a:r>
              <a:rPr lang="en-US" sz="2300" b="true">
                <a:solidFill>
                  <a:srgbClr val="000000"/>
                </a:solidFill>
                <a:latin typeface="Canva Sans Bold"/>
                <a:ea typeface="Canva Sans Bold"/>
                <a:cs typeface="Canva Sans Bold"/>
                <a:sym typeface="Canva Sans Bold"/>
              </a:rPr>
              <a:t>Detection → Analysis → Prioritization → Recommendation → Human Approval → Response</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757963"/>
            <a:ext cx="18288000" cy="8276861"/>
          </a:xfrm>
          <a:custGeom>
            <a:avLst/>
            <a:gdLst/>
            <a:ahLst/>
            <a:cxnLst/>
            <a:rect r="r" b="b" t="t" l="l"/>
            <a:pathLst>
              <a:path h="8276861" w="18288000">
                <a:moveTo>
                  <a:pt x="0" y="0"/>
                </a:moveTo>
                <a:lnTo>
                  <a:pt x="18288000" y="0"/>
                </a:lnTo>
                <a:lnTo>
                  <a:pt x="18288000" y="8276861"/>
                </a:lnTo>
                <a:lnTo>
                  <a:pt x="0" y="8276861"/>
                </a:lnTo>
                <a:lnTo>
                  <a:pt x="0" y="0"/>
                </a:lnTo>
                <a:close/>
              </a:path>
            </a:pathLst>
          </a:custGeom>
          <a:blipFill>
            <a:blip r:embed="rId2"/>
            <a:stretch>
              <a:fillRect l="0" t="-1283" r="0" b="-1598"/>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028700"/>
            <a:ext cx="18288000" cy="7710800"/>
          </a:xfrm>
          <a:custGeom>
            <a:avLst/>
            <a:gdLst/>
            <a:ahLst/>
            <a:cxnLst/>
            <a:rect r="r" b="b" t="t" l="l"/>
            <a:pathLst>
              <a:path h="7710800" w="18288000">
                <a:moveTo>
                  <a:pt x="0" y="0"/>
                </a:moveTo>
                <a:lnTo>
                  <a:pt x="18288000" y="0"/>
                </a:lnTo>
                <a:lnTo>
                  <a:pt x="18288000" y="7710800"/>
                </a:lnTo>
                <a:lnTo>
                  <a:pt x="0" y="7710800"/>
                </a:lnTo>
                <a:lnTo>
                  <a:pt x="0" y="0"/>
                </a:lnTo>
                <a:close/>
              </a:path>
            </a:pathLst>
          </a:custGeom>
          <a:blipFill>
            <a:blip r:embed="rId2"/>
            <a:stretch>
              <a:fillRect l="-1008" t="0" r="-3314" b="-11651"/>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850552"/>
            <a:ext cx="18288000" cy="8053913"/>
          </a:xfrm>
          <a:custGeom>
            <a:avLst/>
            <a:gdLst/>
            <a:ahLst/>
            <a:cxnLst/>
            <a:rect r="r" b="b" t="t" l="l"/>
            <a:pathLst>
              <a:path h="8053913" w="18288000">
                <a:moveTo>
                  <a:pt x="0" y="0"/>
                </a:moveTo>
                <a:lnTo>
                  <a:pt x="18288000" y="0"/>
                </a:lnTo>
                <a:lnTo>
                  <a:pt x="18288000" y="8053914"/>
                </a:lnTo>
                <a:lnTo>
                  <a:pt x="0" y="8053914"/>
                </a:lnTo>
                <a:lnTo>
                  <a:pt x="0" y="0"/>
                </a:lnTo>
                <a:close/>
              </a:path>
            </a:pathLst>
          </a:custGeom>
          <a:blipFill>
            <a:blip r:embed="rId2"/>
            <a:stretch>
              <a:fillRect l="0" t="-3219" r="0" b="-3219"/>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525" y="848209"/>
            <a:ext cx="18357634" cy="8410091"/>
          </a:xfrm>
          <a:custGeom>
            <a:avLst/>
            <a:gdLst/>
            <a:ahLst/>
            <a:cxnLst/>
            <a:rect r="r" b="b" t="t" l="l"/>
            <a:pathLst>
              <a:path h="8410091" w="18357634">
                <a:moveTo>
                  <a:pt x="0" y="0"/>
                </a:moveTo>
                <a:lnTo>
                  <a:pt x="18357634" y="0"/>
                </a:lnTo>
                <a:lnTo>
                  <a:pt x="18357634" y="8410091"/>
                </a:lnTo>
                <a:lnTo>
                  <a:pt x="0" y="8410091"/>
                </a:lnTo>
                <a:lnTo>
                  <a:pt x="0" y="0"/>
                </a:lnTo>
                <a:close/>
              </a:path>
            </a:pathLst>
          </a:custGeom>
          <a:blipFill>
            <a:blip r:embed="rId2"/>
            <a:stretch>
              <a:fillRect l="0" t="0" r="0" b="0"/>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48326" y="1028700"/>
            <a:ext cx="17191348" cy="7597267"/>
          </a:xfrm>
          <a:custGeom>
            <a:avLst/>
            <a:gdLst/>
            <a:ahLst/>
            <a:cxnLst/>
            <a:rect r="r" b="b" t="t" l="l"/>
            <a:pathLst>
              <a:path h="7597267" w="17191348">
                <a:moveTo>
                  <a:pt x="0" y="0"/>
                </a:moveTo>
                <a:lnTo>
                  <a:pt x="17191348" y="0"/>
                </a:lnTo>
                <a:lnTo>
                  <a:pt x="17191348" y="7597267"/>
                </a:lnTo>
                <a:lnTo>
                  <a:pt x="0" y="7597267"/>
                </a:lnTo>
                <a:lnTo>
                  <a:pt x="0" y="0"/>
                </a:lnTo>
                <a:close/>
              </a:path>
            </a:pathLst>
          </a:custGeom>
          <a:blipFill>
            <a:blip r:embed="rId2"/>
            <a:stretch>
              <a:fillRect l="0" t="0" r="0" b="-4656"/>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028700"/>
            <a:ext cx="18276491" cy="8229600"/>
          </a:xfrm>
          <a:custGeom>
            <a:avLst/>
            <a:gdLst/>
            <a:ahLst/>
            <a:cxnLst/>
            <a:rect r="r" b="b" t="t" l="l"/>
            <a:pathLst>
              <a:path h="8229600" w="18276491">
                <a:moveTo>
                  <a:pt x="0" y="0"/>
                </a:moveTo>
                <a:lnTo>
                  <a:pt x="18276491" y="0"/>
                </a:lnTo>
                <a:lnTo>
                  <a:pt x="18276491" y="8229600"/>
                </a:lnTo>
                <a:lnTo>
                  <a:pt x="0" y="8229600"/>
                </a:lnTo>
                <a:lnTo>
                  <a:pt x="0" y="0"/>
                </a:lnTo>
                <a:close/>
              </a:path>
            </a:pathLst>
          </a:custGeom>
          <a:blipFill>
            <a:blip r:embed="rId2"/>
            <a:stretch>
              <a:fillRect l="-4413" t="0" r="0" b="0"/>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028700"/>
            <a:ext cx="18288000" cy="8178663"/>
          </a:xfrm>
          <a:custGeom>
            <a:avLst/>
            <a:gdLst/>
            <a:ahLst/>
            <a:cxnLst/>
            <a:rect r="r" b="b" t="t" l="l"/>
            <a:pathLst>
              <a:path h="8178663" w="18288000">
                <a:moveTo>
                  <a:pt x="0" y="0"/>
                </a:moveTo>
                <a:lnTo>
                  <a:pt x="18288000" y="0"/>
                </a:lnTo>
                <a:lnTo>
                  <a:pt x="18288000" y="8178663"/>
                </a:lnTo>
                <a:lnTo>
                  <a:pt x="0" y="8178663"/>
                </a:lnTo>
                <a:lnTo>
                  <a:pt x="0" y="0"/>
                </a:lnTo>
                <a:close/>
              </a:path>
            </a:pathLst>
          </a:custGeom>
          <a:blipFill>
            <a:blip r:embed="rId2"/>
            <a:stretch>
              <a:fillRect l="0" t="-1740" r="0" b="0"/>
            </a:stretch>
          </a:blipFill>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9747" y="929637"/>
            <a:ext cx="17737006" cy="8307773"/>
          </a:xfrm>
          <a:custGeom>
            <a:avLst/>
            <a:gdLst/>
            <a:ahLst/>
            <a:cxnLst/>
            <a:rect r="r" b="b" t="t" l="l"/>
            <a:pathLst>
              <a:path h="8307773" w="17737006">
                <a:moveTo>
                  <a:pt x="0" y="0"/>
                </a:moveTo>
                <a:lnTo>
                  <a:pt x="17737007" y="0"/>
                </a:lnTo>
                <a:lnTo>
                  <a:pt x="17737007" y="8307773"/>
                </a:lnTo>
                <a:lnTo>
                  <a:pt x="0" y="8307773"/>
                </a:lnTo>
                <a:lnTo>
                  <a:pt x="0" y="0"/>
                </a:lnTo>
                <a:close/>
              </a:path>
            </a:pathLst>
          </a:custGeom>
          <a:blipFill>
            <a:blip r:embed="rId2"/>
            <a:stretch>
              <a:fillRect l="-980" t="0" r="-980" b="0"/>
            </a:stretch>
          </a:blipFill>
        </p:spPr>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030730"/>
            <a:ext cx="18288000" cy="8227570"/>
          </a:xfrm>
          <a:custGeom>
            <a:avLst/>
            <a:gdLst/>
            <a:ahLst/>
            <a:cxnLst/>
            <a:rect r="r" b="b" t="t" l="l"/>
            <a:pathLst>
              <a:path h="8227570" w="18288000">
                <a:moveTo>
                  <a:pt x="0" y="0"/>
                </a:moveTo>
                <a:lnTo>
                  <a:pt x="18288000" y="0"/>
                </a:lnTo>
                <a:lnTo>
                  <a:pt x="18288000" y="8227570"/>
                </a:lnTo>
                <a:lnTo>
                  <a:pt x="0" y="8227570"/>
                </a:lnTo>
                <a:lnTo>
                  <a:pt x="0" y="0"/>
                </a:lnTo>
                <a:close/>
              </a:path>
            </a:pathLst>
          </a:custGeom>
          <a:blipFill>
            <a:blip r:embed="rId2"/>
            <a:stretch>
              <a:fillRect l="0" t="0" r="0" b="-3358"/>
            </a:stretch>
          </a:blipFill>
        </p:spPr>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537210"/>
            <a:ext cx="18288000" cy="8721090"/>
          </a:xfrm>
          <a:custGeom>
            <a:avLst/>
            <a:gdLst/>
            <a:ahLst/>
            <a:cxnLst/>
            <a:rect r="r" b="b" t="t" l="l"/>
            <a:pathLst>
              <a:path h="8721090" w="18288000">
                <a:moveTo>
                  <a:pt x="0" y="0"/>
                </a:moveTo>
                <a:lnTo>
                  <a:pt x="18288000" y="0"/>
                </a:lnTo>
                <a:lnTo>
                  <a:pt x="18288000" y="8721090"/>
                </a:lnTo>
                <a:lnTo>
                  <a:pt x="0" y="8721090"/>
                </a:lnTo>
                <a:lnTo>
                  <a:pt x="0" y="0"/>
                </a:lnTo>
                <a:close/>
              </a:path>
            </a:pathLst>
          </a:custGeom>
          <a:blipFill>
            <a:blip r:embed="rId2"/>
            <a:stretch>
              <a:fillRect l="0" t="0" r="0" b="0"/>
            </a:stretch>
          </a:blipFill>
        </p:spPr>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852519"/>
            <a:ext cx="18288000" cy="8581962"/>
          </a:xfrm>
          <a:custGeom>
            <a:avLst/>
            <a:gdLst/>
            <a:ahLst/>
            <a:cxnLst/>
            <a:rect r="r" b="b" t="t" l="l"/>
            <a:pathLst>
              <a:path h="8581962" w="18288000">
                <a:moveTo>
                  <a:pt x="0" y="0"/>
                </a:moveTo>
                <a:lnTo>
                  <a:pt x="18288000" y="0"/>
                </a:lnTo>
                <a:lnTo>
                  <a:pt x="18288000" y="8581962"/>
                </a:lnTo>
                <a:lnTo>
                  <a:pt x="0" y="8581962"/>
                </a:lnTo>
                <a:lnTo>
                  <a:pt x="0" y="0"/>
                </a:lnTo>
                <a:close/>
              </a:path>
            </a:pathLst>
          </a:custGeom>
          <a:blipFill>
            <a:blip r:embed="rId2"/>
            <a:stretch>
              <a:fillRect l="0" t="0" r="-2432" b="0"/>
            </a:stretch>
          </a:blipFill>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530558"/>
            <a:ext cx="18288000" cy="6047438"/>
          </a:xfrm>
          <a:custGeom>
            <a:avLst/>
            <a:gdLst/>
            <a:ahLst/>
            <a:cxnLst/>
            <a:rect r="r" b="b" t="t" l="l"/>
            <a:pathLst>
              <a:path h="6047438" w="18288000">
                <a:moveTo>
                  <a:pt x="0" y="0"/>
                </a:moveTo>
                <a:lnTo>
                  <a:pt x="18288000" y="0"/>
                </a:lnTo>
                <a:lnTo>
                  <a:pt x="18288000" y="6047438"/>
                </a:lnTo>
                <a:lnTo>
                  <a:pt x="0" y="6047438"/>
                </a:lnTo>
                <a:lnTo>
                  <a:pt x="0" y="0"/>
                </a:lnTo>
                <a:close/>
              </a:path>
            </a:pathLst>
          </a:custGeom>
          <a:blipFill>
            <a:blip r:embed="rId2"/>
            <a:stretch>
              <a:fillRect l="0" t="0" r="0" b="-929"/>
            </a:stretch>
          </a:blipFill>
        </p:spPr>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028700"/>
            <a:ext cx="18288000" cy="7875270"/>
          </a:xfrm>
          <a:custGeom>
            <a:avLst/>
            <a:gdLst/>
            <a:ahLst/>
            <a:cxnLst/>
            <a:rect r="r" b="b" t="t" l="l"/>
            <a:pathLst>
              <a:path h="7875270" w="18288000">
                <a:moveTo>
                  <a:pt x="0" y="0"/>
                </a:moveTo>
                <a:lnTo>
                  <a:pt x="18288000" y="0"/>
                </a:lnTo>
                <a:lnTo>
                  <a:pt x="18288000" y="7875270"/>
                </a:lnTo>
                <a:lnTo>
                  <a:pt x="0" y="7875270"/>
                </a:lnTo>
                <a:lnTo>
                  <a:pt x="0" y="0"/>
                </a:lnTo>
                <a:close/>
              </a:path>
            </a:pathLst>
          </a:custGeom>
          <a:blipFill>
            <a:blip r:embed="rId2"/>
            <a:stretch>
              <a:fillRect l="0" t="0" r="0" b="0"/>
            </a:stretch>
          </a:blipFill>
        </p:spPr>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908685"/>
            <a:ext cx="18288000" cy="8469630"/>
          </a:xfrm>
          <a:custGeom>
            <a:avLst/>
            <a:gdLst/>
            <a:ahLst/>
            <a:cxnLst/>
            <a:rect r="r" b="b" t="t" l="l"/>
            <a:pathLst>
              <a:path h="8469630" w="18288000">
                <a:moveTo>
                  <a:pt x="0" y="0"/>
                </a:moveTo>
                <a:lnTo>
                  <a:pt x="18288000" y="0"/>
                </a:lnTo>
                <a:lnTo>
                  <a:pt x="18288000" y="8469630"/>
                </a:lnTo>
                <a:lnTo>
                  <a:pt x="0" y="8469630"/>
                </a:lnTo>
                <a:lnTo>
                  <a:pt x="0" y="0"/>
                </a:lnTo>
                <a:close/>
              </a:path>
            </a:pathLst>
          </a:custGeom>
          <a:blipFill>
            <a:blip r:embed="rId2"/>
            <a:stretch>
              <a:fillRect l="0" t="0" r="0" b="0"/>
            </a:stretch>
          </a:blipFill>
        </p:spPr>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028700"/>
            <a:ext cx="18288000" cy="8155534"/>
          </a:xfrm>
          <a:custGeom>
            <a:avLst/>
            <a:gdLst/>
            <a:ahLst/>
            <a:cxnLst/>
            <a:rect r="r" b="b" t="t" l="l"/>
            <a:pathLst>
              <a:path h="8155534" w="18288000">
                <a:moveTo>
                  <a:pt x="0" y="0"/>
                </a:moveTo>
                <a:lnTo>
                  <a:pt x="18288000" y="0"/>
                </a:lnTo>
                <a:lnTo>
                  <a:pt x="18288000" y="8155534"/>
                </a:lnTo>
                <a:lnTo>
                  <a:pt x="0" y="8155534"/>
                </a:lnTo>
                <a:lnTo>
                  <a:pt x="0" y="0"/>
                </a:lnTo>
                <a:close/>
              </a:path>
            </a:pathLst>
          </a:custGeom>
          <a:blipFill>
            <a:blip r:embed="rId2"/>
            <a:stretch>
              <a:fillRect l="0" t="-266" r="-184" b="-266"/>
            </a:stretch>
          </a:blipFill>
        </p:spPr>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028700"/>
            <a:ext cx="18288000" cy="8509098"/>
          </a:xfrm>
          <a:custGeom>
            <a:avLst/>
            <a:gdLst/>
            <a:ahLst/>
            <a:cxnLst/>
            <a:rect r="r" b="b" t="t" l="l"/>
            <a:pathLst>
              <a:path h="8509098" w="18288000">
                <a:moveTo>
                  <a:pt x="0" y="0"/>
                </a:moveTo>
                <a:lnTo>
                  <a:pt x="18288000" y="0"/>
                </a:lnTo>
                <a:lnTo>
                  <a:pt x="18288000" y="8509098"/>
                </a:lnTo>
                <a:lnTo>
                  <a:pt x="0" y="8509098"/>
                </a:lnTo>
                <a:lnTo>
                  <a:pt x="0" y="0"/>
                </a:lnTo>
                <a:close/>
              </a:path>
            </a:pathLst>
          </a:custGeom>
          <a:blipFill>
            <a:blip r:embed="rId2"/>
            <a:stretch>
              <a:fillRect l="-1679" t="-1013" r="0" b="-1013"/>
            </a:stretch>
          </a:blipFill>
        </p:spPr>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4243" y="1028700"/>
            <a:ext cx="18079515" cy="7728993"/>
          </a:xfrm>
          <a:custGeom>
            <a:avLst/>
            <a:gdLst/>
            <a:ahLst/>
            <a:cxnLst/>
            <a:rect r="r" b="b" t="t" l="l"/>
            <a:pathLst>
              <a:path h="7728993" w="18079515">
                <a:moveTo>
                  <a:pt x="0" y="0"/>
                </a:moveTo>
                <a:lnTo>
                  <a:pt x="18079514" y="0"/>
                </a:lnTo>
                <a:lnTo>
                  <a:pt x="18079514" y="7728993"/>
                </a:lnTo>
                <a:lnTo>
                  <a:pt x="0" y="7728993"/>
                </a:lnTo>
                <a:lnTo>
                  <a:pt x="0" y="0"/>
                </a:lnTo>
                <a:close/>
              </a:path>
            </a:pathLst>
          </a:custGeom>
          <a:blipFill>
            <a:blip r:embed="rId2"/>
            <a:stretch>
              <a:fillRect l="0" t="0" r="0" b="0"/>
            </a:stretch>
          </a:blipFill>
        </p:spPr>
      </p:sp>
    </p:spTree>
  </p:cSld>
  <p:clrMapOvr>
    <a:masterClrMapping/>
  </p:clrMapOvr>
</p:sld>
</file>

<file path=ppt/slides/slide3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676139" y="200102"/>
            <a:ext cx="10501884" cy="571500"/>
          </a:xfrm>
          <a:prstGeom prst="rect">
            <a:avLst/>
          </a:prstGeom>
        </p:spPr>
        <p:txBody>
          <a:bodyPr anchor="t" rtlCol="false" tIns="0" lIns="0" bIns="0" rIns="0">
            <a:spAutoFit/>
          </a:bodyPr>
          <a:lstStyle/>
          <a:p>
            <a:pPr algn="l">
              <a:lnSpc>
                <a:spcPts val="4320"/>
              </a:lnSpc>
            </a:pPr>
            <a:r>
              <a:rPr lang="en-US" sz="3600" b="true">
                <a:solidFill>
                  <a:srgbClr val="000000"/>
                </a:solidFill>
                <a:latin typeface="Arial Bold"/>
                <a:ea typeface="Arial Bold"/>
                <a:cs typeface="Arial Bold"/>
                <a:sym typeface="Arial Bold"/>
              </a:rPr>
              <a:t>Novelty and Uniqueness</a:t>
            </a:r>
          </a:p>
        </p:txBody>
      </p:sp>
      <p:sp>
        <p:nvSpPr>
          <p:cNvPr name="TextBox 3" id="3"/>
          <p:cNvSpPr txBox="true"/>
          <p:nvPr/>
        </p:nvSpPr>
        <p:spPr>
          <a:xfrm rot="0">
            <a:off x="205085" y="706608"/>
            <a:ext cx="18288000" cy="1123950"/>
          </a:xfrm>
          <a:prstGeom prst="rect">
            <a:avLst/>
          </a:prstGeom>
        </p:spPr>
        <p:txBody>
          <a:bodyPr anchor="t" rtlCol="false" tIns="0" lIns="0" bIns="0" rIns="0">
            <a:spAutoFit/>
          </a:bodyPr>
          <a:lstStyle/>
          <a:p>
            <a:pPr algn="l">
              <a:lnSpc>
                <a:spcPts val="2991"/>
              </a:lnSpc>
            </a:pPr>
          </a:p>
          <a:p>
            <a:pPr algn="l">
              <a:lnSpc>
                <a:spcPts val="2991"/>
              </a:lnSpc>
            </a:pPr>
            <a:r>
              <a:rPr lang="en-US" sz="2492">
                <a:solidFill>
                  <a:srgbClr val="000000"/>
                </a:solidFill>
                <a:latin typeface="Arial"/>
                <a:ea typeface="Arial"/>
                <a:cs typeface="Arial"/>
                <a:sym typeface="Arial"/>
              </a:rPr>
              <a:t>FLOODGUARD AI combines Machine Learning, Agentic AI, Geospatial Intelligence, and multilingual citizen interaction to transform urban flood data into actionable civic decisions for Ahmedabad and Surat.</a:t>
            </a:r>
            <a:r>
              <a:rPr lang="en-US" sz="2492">
                <a:solidFill>
                  <a:srgbClr val="000000"/>
                </a:solidFill>
                <a:latin typeface="Arial"/>
                <a:ea typeface="Arial"/>
                <a:cs typeface="Arial"/>
                <a:sym typeface="Arial"/>
              </a:rPr>
              <a:t>.</a:t>
            </a:r>
          </a:p>
        </p:txBody>
      </p:sp>
      <p:sp>
        <p:nvSpPr>
          <p:cNvPr name="TextBox 4" id="4"/>
          <p:cNvSpPr txBox="true"/>
          <p:nvPr/>
        </p:nvSpPr>
        <p:spPr>
          <a:xfrm rot="0">
            <a:off x="205085" y="2097258"/>
            <a:ext cx="18082915" cy="1271269"/>
          </a:xfrm>
          <a:prstGeom prst="rect">
            <a:avLst/>
          </a:prstGeom>
        </p:spPr>
        <p:txBody>
          <a:bodyPr anchor="t" rtlCol="false" tIns="0" lIns="0" bIns="0" rIns="0">
            <a:spAutoFit/>
          </a:bodyPr>
          <a:lstStyle/>
          <a:p>
            <a:pPr algn="just">
              <a:lnSpc>
                <a:spcPts val="3500"/>
              </a:lnSpc>
            </a:pPr>
            <a:r>
              <a:rPr lang="en-US" b="true" sz="2500">
                <a:solidFill>
                  <a:srgbClr val="000000"/>
                </a:solidFill>
                <a:latin typeface="Canva Sans Bold"/>
                <a:ea typeface="Canva Sans Bold"/>
                <a:cs typeface="Canva Sans Bold"/>
                <a:sym typeface="Canva Sans Bold"/>
              </a:rPr>
              <a:t>Multi-Agent Intelligence</a:t>
            </a:r>
          </a:p>
          <a:p>
            <a:pPr algn="l">
              <a:lnSpc>
                <a:spcPts val="3360"/>
              </a:lnSpc>
            </a:pPr>
            <a:r>
              <a:rPr lang="en-US" sz="2400">
                <a:solidFill>
                  <a:srgbClr val="000000"/>
                </a:solidFill>
                <a:latin typeface="Canva Sans"/>
                <a:ea typeface="Canva Sans"/>
                <a:cs typeface="Canva Sans"/>
                <a:sym typeface="Canva Sans"/>
              </a:rPr>
              <a:t>Specialized agents collaborate across flood-risk prediction, drainage prioritization, citizen reports, response coordination, and damage assessment.</a:t>
            </a:r>
          </a:p>
        </p:txBody>
      </p:sp>
      <p:sp>
        <p:nvSpPr>
          <p:cNvPr name="TextBox 5" id="5"/>
          <p:cNvSpPr txBox="true"/>
          <p:nvPr/>
        </p:nvSpPr>
        <p:spPr>
          <a:xfrm rot="0">
            <a:off x="205085" y="5148432"/>
            <a:ext cx="17359669" cy="789304"/>
          </a:xfrm>
          <a:prstGeom prst="rect">
            <a:avLst/>
          </a:prstGeom>
        </p:spPr>
        <p:txBody>
          <a:bodyPr anchor="t" rtlCol="false" tIns="0" lIns="0" bIns="0" rIns="0">
            <a:spAutoFit/>
          </a:bodyPr>
          <a:lstStyle/>
          <a:p>
            <a:pPr algn="l">
              <a:lnSpc>
                <a:spcPts val="3080"/>
              </a:lnSpc>
            </a:pPr>
            <a:r>
              <a:rPr lang="en-US" sz="2200" b="true">
                <a:solidFill>
                  <a:srgbClr val="000000"/>
                </a:solidFill>
                <a:latin typeface="Canva Sans Bold"/>
                <a:ea typeface="Canva Sans Bold"/>
                <a:cs typeface="Canva Sans Bold"/>
                <a:sym typeface="Canva Sans Bold"/>
              </a:rPr>
              <a:t>Grounded AI Recommendations</a:t>
            </a:r>
          </a:p>
          <a:p>
            <a:pPr algn="l">
              <a:lnSpc>
                <a:spcPts val="3360"/>
              </a:lnSpc>
            </a:pPr>
            <a:r>
              <a:rPr lang="en-US" sz="2400">
                <a:solidFill>
                  <a:srgbClr val="000000"/>
                </a:solidFill>
                <a:latin typeface="Canva Sans"/>
                <a:ea typeface="Canva Sans"/>
                <a:cs typeface="Canva Sans"/>
                <a:sym typeface="Canva Sans"/>
              </a:rPr>
              <a:t>IBM Granite uses application context to generate situation summaries, explanations, and prioritized recommendations.</a:t>
            </a:r>
          </a:p>
        </p:txBody>
      </p:sp>
      <p:sp>
        <p:nvSpPr>
          <p:cNvPr name="TextBox 6" id="6"/>
          <p:cNvSpPr txBox="true"/>
          <p:nvPr/>
        </p:nvSpPr>
        <p:spPr>
          <a:xfrm rot="0">
            <a:off x="205085" y="3654277"/>
            <a:ext cx="18082915" cy="1208404"/>
          </a:xfrm>
          <a:prstGeom prst="rect">
            <a:avLst/>
          </a:prstGeom>
        </p:spPr>
        <p:txBody>
          <a:bodyPr anchor="t" rtlCol="false" tIns="0" lIns="0" bIns="0" rIns="0">
            <a:spAutoFit/>
          </a:bodyPr>
          <a:lstStyle/>
          <a:p>
            <a:pPr algn="l">
              <a:lnSpc>
                <a:spcPts val="3080"/>
              </a:lnSpc>
            </a:pPr>
            <a:r>
              <a:rPr lang="en-US" sz="2200" b="true">
                <a:solidFill>
                  <a:srgbClr val="000000"/>
                </a:solidFill>
                <a:latin typeface="Canva Sans Bold"/>
                <a:ea typeface="Canva Sans Bold"/>
                <a:cs typeface="Canva Sans Bold"/>
                <a:sym typeface="Canva Sans Bold"/>
              </a:rPr>
              <a:t>Hyper-Localized Intelligence</a:t>
            </a:r>
          </a:p>
          <a:p>
            <a:pPr algn="l">
              <a:lnSpc>
                <a:spcPts val="3360"/>
              </a:lnSpc>
            </a:pPr>
            <a:r>
              <a:rPr lang="en-US" sz="2400">
                <a:solidFill>
                  <a:srgbClr val="000000"/>
                </a:solidFill>
                <a:latin typeface="Canva Sans"/>
                <a:ea typeface="Canva Sans"/>
                <a:cs typeface="Canva Sans"/>
                <a:sym typeface="Canva Sans"/>
              </a:rPr>
              <a:t>Designed specifically around urban flooding, drainage conditions, rainfall, historical incidents, and citizen inputs relevant to Ahmedabad and Surat.</a:t>
            </a:r>
          </a:p>
        </p:txBody>
      </p:sp>
      <p:sp>
        <p:nvSpPr>
          <p:cNvPr name="TextBox 7" id="7"/>
          <p:cNvSpPr txBox="true"/>
          <p:nvPr/>
        </p:nvSpPr>
        <p:spPr>
          <a:xfrm rot="0">
            <a:off x="205085" y="7488729"/>
            <a:ext cx="12526804" cy="852169"/>
          </a:xfrm>
          <a:prstGeom prst="rect">
            <a:avLst/>
          </a:prstGeom>
        </p:spPr>
        <p:txBody>
          <a:bodyPr anchor="t" rtlCol="false" tIns="0" lIns="0" bIns="0" rIns="0">
            <a:spAutoFit/>
          </a:bodyPr>
          <a:lstStyle/>
          <a:p>
            <a:pPr algn="l">
              <a:lnSpc>
                <a:spcPts val="3500"/>
              </a:lnSpc>
            </a:pPr>
            <a:r>
              <a:rPr lang="en-US" sz="2500" b="true">
                <a:solidFill>
                  <a:srgbClr val="000000"/>
                </a:solidFill>
                <a:latin typeface="Canva Sans Bold"/>
                <a:ea typeface="Canva Sans Bold"/>
                <a:cs typeface="Canva Sans Bold"/>
                <a:sym typeface="Canva Sans Bold"/>
              </a:rPr>
              <a:t>Dynamic Decision Loop</a:t>
            </a:r>
          </a:p>
          <a:p>
            <a:pPr algn="l">
              <a:lnSpc>
                <a:spcPts val="3360"/>
              </a:lnSpc>
            </a:pPr>
            <a:r>
              <a:rPr lang="en-US" sz="2400">
                <a:solidFill>
                  <a:srgbClr val="000000"/>
                </a:solidFill>
                <a:latin typeface="Canva Sans"/>
                <a:ea typeface="Canva Sans"/>
                <a:cs typeface="Canva Sans"/>
                <a:sym typeface="Canva Sans"/>
              </a:rPr>
              <a:t>New rainfall and citizen-report inputs can update risk insights and response priorities.</a:t>
            </a:r>
          </a:p>
        </p:txBody>
      </p:sp>
      <p:sp>
        <p:nvSpPr>
          <p:cNvPr name="TextBox 8" id="8"/>
          <p:cNvSpPr txBox="true"/>
          <p:nvPr/>
        </p:nvSpPr>
        <p:spPr>
          <a:xfrm rot="0">
            <a:off x="205085" y="6336996"/>
            <a:ext cx="18082915" cy="771524"/>
          </a:xfrm>
          <a:prstGeom prst="rect">
            <a:avLst/>
          </a:prstGeom>
        </p:spPr>
        <p:txBody>
          <a:bodyPr anchor="t" rtlCol="false" tIns="0" lIns="0" bIns="0" rIns="0">
            <a:spAutoFit/>
          </a:bodyPr>
          <a:lstStyle/>
          <a:p>
            <a:pPr algn="l">
              <a:lnSpc>
                <a:spcPts val="3080"/>
              </a:lnSpc>
            </a:pPr>
            <a:r>
              <a:rPr lang="en-US" sz="2200" b="true">
                <a:solidFill>
                  <a:srgbClr val="000000"/>
                </a:solidFill>
                <a:latin typeface="Canva Sans Bold"/>
                <a:ea typeface="Canva Sans Bold"/>
                <a:cs typeface="Canva Sans Bold"/>
                <a:sym typeface="Canva Sans Bold"/>
              </a:rPr>
              <a:t>Human-in-the-Loop &amp; Auditability</a:t>
            </a:r>
          </a:p>
          <a:p>
            <a:pPr algn="l">
              <a:lnSpc>
                <a:spcPts val="3220"/>
              </a:lnSpc>
            </a:pPr>
            <a:r>
              <a:rPr lang="en-US" sz="2300">
                <a:solidFill>
                  <a:srgbClr val="000000"/>
                </a:solidFill>
                <a:latin typeface="Canva Sans"/>
                <a:ea typeface="Canva Sans"/>
                <a:cs typeface="Canva Sans"/>
                <a:sym typeface="Canva Sans"/>
              </a:rPr>
              <a:t>Critical recommendations can pass through human approval, creating a safer and more accountable decision-support workflow.</a:t>
            </a:r>
          </a:p>
        </p:txBody>
      </p:sp>
      <p:sp>
        <p:nvSpPr>
          <p:cNvPr name="TextBox 9" id="9"/>
          <p:cNvSpPr txBox="true"/>
          <p:nvPr/>
        </p:nvSpPr>
        <p:spPr>
          <a:xfrm rot="0">
            <a:off x="307628" y="8839835"/>
            <a:ext cx="18082915" cy="789304"/>
          </a:xfrm>
          <a:prstGeom prst="rect">
            <a:avLst/>
          </a:prstGeom>
        </p:spPr>
        <p:txBody>
          <a:bodyPr anchor="t" rtlCol="false" tIns="0" lIns="0" bIns="0" rIns="0">
            <a:spAutoFit/>
          </a:bodyPr>
          <a:lstStyle/>
          <a:p>
            <a:pPr algn="l">
              <a:lnSpc>
                <a:spcPts val="3220"/>
              </a:lnSpc>
            </a:pPr>
            <a:r>
              <a:rPr lang="en-US" sz="2300" b="true">
                <a:solidFill>
                  <a:srgbClr val="000000"/>
                </a:solidFill>
                <a:latin typeface="Canva Sans Bold"/>
                <a:ea typeface="Canva Sans Bold"/>
                <a:cs typeface="Canva Sans Bold"/>
                <a:sym typeface="Canva Sans Bold"/>
              </a:rPr>
              <a:t>“FLOODGUARD AI is not just a flood dashboard or chatbot—it is an agentic decision-support platform that helps civic teams detect risk, understand situations, prioritize actions, and decide what to do next.”</a:t>
            </a:r>
          </a:p>
        </p:txBody>
      </p:sp>
    </p:spTree>
  </p:cSld>
  <p:clrMapOvr>
    <a:masterClrMapping/>
  </p:clrMapOvr>
</p:sld>
</file>

<file path=ppt/slides/slide3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48312"/>
            <a:ext cx="9666742" cy="880388"/>
          </a:xfrm>
          <a:prstGeom prst="rect">
            <a:avLst/>
          </a:prstGeom>
        </p:spPr>
        <p:txBody>
          <a:bodyPr anchor="t" rtlCol="false" tIns="0" lIns="0" bIns="0" rIns="0">
            <a:spAutoFit/>
          </a:bodyPr>
          <a:lstStyle/>
          <a:p>
            <a:pPr algn="l">
              <a:lnSpc>
                <a:spcPts val="7542"/>
              </a:lnSpc>
            </a:pPr>
            <a:r>
              <a:rPr lang="en-US" b="true" sz="3999">
                <a:solidFill>
                  <a:srgbClr val="000000"/>
                </a:solidFill>
                <a:latin typeface="Arial Bold"/>
                <a:ea typeface="Arial Bold"/>
                <a:cs typeface="Arial Bold"/>
                <a:sym typeface="Arial Bold"/>
              </a:rPr>
              <a:t>Future Scope </a:t>
            </a:r>
          </a:p>
        </p:txBody>
      </p:sp>
      <p:sp>
        <p:nvSpPr>
          <p:cNvPr name="TextBox 3" id="3"/>
          <p:cNvSpPr txBox="true"/>
          <p:nvPr/>
        </p:nvSpPr>
        <p:spPr>
          <a:xfrm rot="0">
            <a:off x="286755" y="1362075"/>
            <a:ext cx="16230600" cy="7067550"/>
          </a:xfrm>
          <a:prstGeom prst="rect">
            <a:avLst/>
          </a:prstGeom>
        </p:spPr>
        <p:txBody>
          <a:bodyPr anchor="t" rtlCol="false" tIns="0" lIns="0" bIns="0" rIns="0">
            <a:spAutoFit/>
          </a:bodyPr>
          <a:lstStyle/>
          <a:p>
            <a:pPr algn="l">
              <a:lnSpc>
                <a:spcPts val="2959"/>
              </a:lnSpc>
            </a:pPr>
            <a:r>
              <a:rPr lang="en-US" sz="2465" b="true">
                <a:solidFill>
                  <a:srgbClr val="000000"/>
                </a:solidFill>
                <a:latin typeface="Arial Bold"/>
                <a:ea typeface="Arial Bold"/>
                <a:cs typeface="Arial Bold"/>
                <a:sym typeface="Arial Bold"/>
              </a:rPr>
              <a:t>1. Real-Time IoT &amp; Weather Integration</a:t>
            </a:r>
          </a:p>
          <a:p>
            <a:pPr algn="l">
              <a:lnSpc>
                <a:spcPts val="2959"/>
              </a:lnSpc>
            </a:pPr>
            <a:r>
              <a:rPr lang="en-US" sz="2465">
                <a:solidFill>
                  <a:srgbClr val="000000"/>
                </a:solidFill>
                <a:latin typeface="Arial"/>
                <a:ea typeface="Arial"/>
                <a:cs typeface="Arial"/>
                <a:sym typeface="Arial"/>
              </a:rPr>
              <a:t>Integrate live rainfall, water-level, weather and drainage sensors for continuous flood-risk monitoring and early warnings.</a:t>
            </a:r>
          </a:p>
          <a:p>
            <a:pPr algn="l">
              <a:lnSpc>
                <a:spcPts val="2959"/>
              </a:lnSpc>
            </a:pPr>
          </a:p>
          <a:p>
            <a:pPr algn="l">
              <a:lnSpc>
                <a:spcPts val="2959"/>
              </a:lnSpc>
            </a:pPr>
            <a:r>
              <a:rPr lang="en-US" sz="2465" b="true">
                <a:solidFill>
                  <a:srgbClr val="000000"/>
                </a:solidFill>
                <a:latin typeface="Arial Bold"/>
                <a:ea typeface="Arial Bold"/>
                <a:cs typeface="Arial Bold"/>
                <a:sym typeface="Arial Bold"/>
              </a:rPr>
              <a:t>2. City-Wide &amp; Multi-City Expansion</a:t>
            </a:r>
          </a:p>
          <a:p>
            <a:pPr algn="l">
              <a:lnSpc>
                <a:spcPts val="2959"/>
              </a:lnSpc>
            </a:pPr>
            <a:r>
              <a:rPr lang="en-US" sz="2465">
                <a:solidFill>
                  <a:srgbClr val="000000"/>
                </a:solidFill>
                <a:latin typeface="Arial"/>
                <a:ea typeface="Arial"/>
                <a:cs typeface="Arial"/>
                <a:sym typeface="Arial"/>
              </a:rPr>
              <a:t>Extend FLOODGUARD AI beyond Ahmedabad and Surat using advanced GIS, satellite data and richer historical flood datasets</a:t>
            </a:r>
          </a:p>
          <a:p>
            <a:pPr algn="l">
              <a:lnSpc>
                <a:spcPts val="2959"/>
              </a:lnSpc>
            </a:pPr>
          </a:p>
          <a:p>
            <a:pPr algn="l">
              <a:lnSpc>
                <a:spcPts val="2959"/>
              </a:lnSpc>
            </a:pPr>
            <a:r>
              <a:rPr lang="en-US" sz="2465" b="true">
                <a:solidFill>
                  <a:srgbClr val="000000"/>
                </a:solidFill>
                <a:latin typeface="Arial Bold"/>
                <a:ea typeface="Arial Bold"/>
                <a:cs typeface="Arial Bold"/>
                <a:sym typeface="Arial Bold"/>
              </a:rPr>
              <a:t>3. Intelligent Emergency Response</a:t>
            </a:r>
          </a:p>
          <a:p>
            <a:pPr algn="l">
              <a:lnSpc>
                <a:spcPts val="2959"/>
              </a:lnSpc>
            </a:pPr>
            <a:r>
              <a:rPr lang="en-US" sz="2465">
                <a:solidFill>
                  <a:srgbClr val="000000"/>
                </a:solidFill>
                <a:latin typeface="Arial"/>
                <a:ea typeface="Arial"/>
                <a:cs typeface="Arial"/>
                <a:sym typeface="Arial"/>
              </a:rPr>
              <a:t>Enable real-time alerts, response-team coordination and AI-assisted evacuation or traffic-management recommendations with human approval.</a:t>
            </a:r>
          </a:p>
          <a:p>
            <a:pPr algn="l">
              <a:lnSpc>
                <a:spcPts val="2959"/>
              </a:lnSpc>
            </a:pPr>
          </a:p>
          <a:p>
            <a:pPr algn="l">
              <a:lnSpc>
                <a:spcPts val="2959"/>
              </a:lnSpc>
            </a:pPr>
            <a:r>
              <a:rPr lang="en-US" sz="2465" b="true">
                <a:solidFill>
                  <a:srgbClr val="000000"/>
                </a:solidFill>
                <a:latin typeface="Arial Bold"/>
                <a:ea typeface="Arial Bold"/>
                <a:cs typeface="Arial Bold"/>
                <a:sym typeface="Arial Bold"/>
              </a:rPr>
              <a:t>4. AI-Based Damage Assessment</a:t>
            </a:r>
          </a:p>
          <a:p>
            <a:pPr algn="l">
              <a:lnSpc>
                <a:spcPts val="2959"/>
              </a:lnSpc>
            </a:pPr>
            <a:r>
              <a:rPr lang="en-US" sz="2465">
                <a:solidFill>
                  <a:srgbClr val="000000"/>
                </a:solidFill>
                <a:latin typeface="Arial"/>
                <a:ea typeface="Arial"/>
                <a:cs typeface="Arial"/>
                <a:sym typeface="Arial"/>
              </a:rPr>
              <a:t>Use image-based AI analysis to assess post-flood damage to roads, drainage infrastructure and public assets for faster recovery planning.</a:t>
            </a:r>
          </a:p>
          <a:p>
            <a:pPr algn="l">
              <a:lnSpc>
                <a:spcPts val="2959"/>
              </a:lnSpc>
            </a:pPr>
          </a:p>
          <a:p>
            <a:pPr algn="l">
              <a:lnSpc>
                <a:spcPts val="2959"/>
              </a:lnSpc>
            </a:pPr>
            <a:r>
              <a:rPr lang="en-US" sz="2465" b="true">
                <a:solidFill>
                  <a:srgbClr val="000000"/>
                </a:solidFill>
                <a:latin typeface="Arial Bold"/>
                <a:ea typeface="Arial Bold"/>
                <a:cs typeface="Arial Bold"/>
                <a:sym typeface="Arial Bold"/>
              </a:rPr>
              <a:t>5. Multilingual Citizen &amp; Civic Communication</a:t>
            </a:r>
          </a:p>
          <a:p>
            <a:pPr algn="l">
              <a:lnSpc>
                <a:spcPts val="2959"/>
              </a:lnSpc>
            </a:pPr>
            <a:r>
              <a:rPr lang="en-US" sz="2465">
                <a:solidFill>
                  <a:srgbClr val="000000"/>
                </a:solidFill>
                <a:latin typeface="Arial"/>
                <a:ea typeface="Arial"/>
                <a:cs typeface="Arial"/>
                <a:sym typeface="Arial"/>
              </a:rPr>
              <a:t>Expand Gujarati, Hindi and English support through mobile, WhatsApp/SMS and voice-based citizen reporting and emergency communication.</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73118"/>
            <a:ext cx="9666742" cy="909782"/>
          </a:xfrm>
          <a:prstGeom prst="rect">
            <a:avLst/>
          </a:prstGeom>
        </p:spPr>
        <p:txBody>
          <a:bodyPr anchor="t" rtlCol="false" tIns="0" lIns="0" bIns="0" rIns="0">
            <a:spAutoFit/>
          </a:bodyPr>
          <a:lstStyle/>
          <a:p>
            <a:pPr algn="l">
              <a:lnSpc>
                <a:spcPts val="7731"/>
              </a:lnSpc>
            </a:pPr>
            <a:r>
              <a:rPr lang="en-US" b="true" sz="4099">
                <a:solidFill>
                  <a:srgbClr val="000000"/>
                </a:solidFill>
                <a:latin typeface="Arial Bold"/>
                <a:ea typeface="Arial Bold"/>
                <a:cs typeface="Arial Bold"/>
                <a:sym typeface="Arial Bold"/>
              </a:rPr>
              <a:t>Git Hub Link</a:t>
            </a:r>
          </a:p>
        </p:txBody>
      </p:sp>
      <p:sp>
        <p:nvSpPr>
          <p:cNvPr name="TextBox 3" id="3"/>
          <p:cNvSpPr txBox="true"/>
          <p:nvPr/>
        </p:nvSpPr>
        <p:spPr>
          <a:xfrm rot="0">
            <a:off x="1028700" y="964738"/>
            <a:ext cx="15378070" cy="9315450"/>
          </a:xfrm>
          <a:prstGeom prst="rect">
            <a:avLst/>
          </a:prstGeom>
        </p:spPr>
        <p:txBody>
          <a:bodyPr anchor="t" rtlCol="false" tIns="0" lIns="0" bIns="0" rIns="0">
            <a:spAutoFit/>
          </a:bodyPr>
          <a:lstStyle/>
          <a:p>
            <a:pPr algn="l">
              <a:lnSpc>
                <a:spcPts val="3564"/>
              </a:lnSpc>
            </a:pPr>
            <a:r>
              <a:rPr lang="en-US" sz="2970">
                <a:solidFill>
                  <a:srgbClr val="000000"/>
                </a:solidFill>
                <a:latin typeface="Arial"/>
                <a:ea typeface="Arial"/>
                <a:cs typeface="Arial"/>
                <a:sym typeface="Arial"/>
              </a:rPr>
              <a:t>GitHub Repository</a:t>
            </a:r>
          </a:p>
          <a:p>
            <a:pPr algn="l">
              <a:lnSpc>
                <a:spcPts val="3564"/>
              </a:lnSpc>
            </a:pPr>
            <a:r>
              <a:rPr lang="en-US" sz="2970">
                <a:solidFill>
                  <a:srgbClr val="000000"/>
                </a:solidFill>
                <a:latin typeface="Arial"/>
                <a:ea typeface="Arial"/>
                <a:cs typeface="Arial"/>
                <a:sym typeface="Arial"/>
              </a:rPr>
              <a:t>Public Repository:</a:t>
            </a:r>
          </a:p>
          <a:p>
            <a:pPr algn="l">
              <a:lnSpc>
                <a:spcPts val="3204"/>
              </a:lnSpc>
            </a:pPr>
            <a:r>
              <a:rPr lang="en-US" sz="2670" u="sng">
                <a:solidFill>
                  <a:srgbClr val="000000"/>
                </a:solidFill>
                <a:latin typeface="Arial"/>
                <a:ea typeface="Arial"/>
                <a:cs typeface="Arial"/>
                <a:sym typeface="Arial"/>
                <a:hlinkClick r:id="rId3" tooltip="https://github.com/PrinceJain2006/floodguard-ai?utm_source=chatgpt.com"/>
              </a:rPr>
              <a:t>https://github.com/PrinceJain2006/floodguard-ai</a:t>
            </a:r>
          </a:p>
          <a:p>
            <a:pPr algn="l">
              <a:lnSpc>
                <a:spcPts val="3204"/>
              </a:lnSpc>
            </a:pPr>
          </a:p>
          <a:p>
            <a:pPr algn="l">
              <a:lnSpc>
                <a:spcPts val="3204"/>
              </a:lnSpc>
            </a:pPr>
            <a:r>
              <a:rPr lang="en-US" sz="2670">
                <a:solidFill>
                  <a:srgbClr val="000000"/>
                </a:solidFill>
                <a:latin typeface="Arial"/>
                <a:ea typeface="Arial"/>
                <a:cs typeface="Arial"/>
                <a:sym typeface="Arial"/>
              </a:rPr>
              <a:t>The repository contains the complete FLOODGUARD AI source code, Agentic AI implementation, IBM integration, documentation, and required submission materials.</a:t>
            </a:r>
          </a:p>
          <a:p>
            <a:pPr algn="l">
              <a:lnSpc>
                <a:spcPts val="3204"/>
              </a:lnSpc>
            </a:pPr>
          </a:p>
          <a:p>
            <a:pPr algn="l">
              <a:lnSpc>
                <a:spcPts val="3204"/>
              </a:lnSpc>
            </a:pPr>
            <a:r>
              <a:rPr lang="en-US" sz="2670">
                <a:solidFill>
                  <a:srgbClr val="000000"/>
                </a:solidFill>
                <a:latin typeface="Arial"/>
                <a:ea typeface="Arial"/>
                <a:cs typeface="Arial"/>
                <a:sym typeface="Arial"/>
              </a:rPr>
              <a:t>Repository Contents</a:t>
            </a:r>
          </a:p>
          <a:p>
            <a:pPr algn="l" marL="576498" indent="-288249" lvl="1">
              <a:lnSpc>
                <a:spcPts val="3204"/>
              </a:lnSpc>
              <a:buFont typeface="Arial"/>
              <a:buChar char="•"/>
            </a:pPr>
            <a:r>
              <a:rPr lang="en-US" sz="2670">
                <a:solidFill>
                  <a:srgbClr val="000000"/>
                </a:solidFill>
                <a:latin typeface="Arial"/>
                <a:ea typeface="Arial"/>
                <a:cs typeface="Arial"/>
                <a:sym typeface="Arial"/>
              </a:rPr>
              <a:t>Complete Source Code – Streamlit application, Agentic AI modules, ML model, backend, frontend and project files</a:t>
            </a:r>
          </a:p>
          <a:p>
            <a:pPr algn="l" marL="576498" indent="-288249" lvl="1">
              <a:lnSpc>
                <a:spcPts val="3204"/>
              </a:lnSpc>
              <a:buFont typeface="Arial"/>
              <a:buChar char="•"/>
            </a:pPr>
            <a:r>
              <a:rPr lang="en-US" sz="2670">
                <a:solidFill>
                  <a:srgbClr val="000000"/>
                </a:solidFill>
                <a:latin typeface="Arial"/>
                <a:ea typeface="Arial"/>
                <a:cs typeface="Arial"/>
                <a:sym typeface="Arial"/>
              </a:rPr>
              <a:t>Agentic AI Implementation – Flood Risk, Drainage, Citizen Report, Response Coordination and Damage Assessment components</a:t>
            </a:r>
          </a:p>
          <a:p>
            <a:pPr algn="l" marL="576498" indent="-288249" lvl="1">
              <a:lnSpc>
                <a:spcPts val="3204"/>
              </a:lnSpc>
              <a:buFont typeface="Arial"/>
              <a:buChar char="•"/>
            </a:pPr>
            <a:r>
              <a:rPr lang="en-US" sz="2670">
                <a:solidFill>
                  <a:srgbClr val="000000"/>
                </a:solidFill>
                <a:latin typeface="Arial"/>
                <a:ea typeface="Arial"/>
                <a:cs typeface="Arial"/>
                <a:sym typeface="Arial"/>
              </a:rPr>
              <a:t>IBM Integration – IBM Granite / watsonx and IBM Cloud related configuration</a:t>
            </a:r>
          </a:p>
          <a:p>
            <a:pPr algn="l" marL="576498" indent="-288249" lvl="1">
              <a:lnSpc>
                <a:spcPts val="3204"/>
              </a:lnSpc>
              <a:buFont typeface="Arial"/>
              <a:buChar char="•"/>
            </a:pPr>
            <a:r>
              <a:rPr lang="en-US" sz="2670">
                <a:solidFill>
                  <a:srgbClr val="000000"/>
                </a:solidFill>
                <a:latin typeface="Arial"/>
                <a:ea typeface="Arial"/>
                <a:cs typeface="Arial"/>
                <a:sym typeface="Arial"/>
              </a:rPr>
              <a:t>Machine Learning – Flood-risk prediction and supporting ML components</a:t>
            </a:r>
          </a:p>
          <a:p>
            <a:pPr algn="l" marL="576498" indent="-288249" lvl="1">
              <a:lnSpc>
                <a:spcPts val="3204"/>
              </a:lnSpc>
              <a:buFont typeface="Arial"/>
              <a:buChar char="•"/>
            </a:pPr>
            <a:r>
              <a:rPr lang="en-US" sz="2670">
                <a:solidFill>
                  <a:srgbClr val="000000"/>
                </a:solidFill>
                <a:latin typeface="Arial"/>
                <a:ea typeface="Arial"/>
                <a:cs typeface="Arial"/>
                <a:sym typeface="Arial"/>
              </a:rPr>
              <a:t>Documentation – README, architecture and demo documentation</a:t>
            </a:r>
          </a:p>
          <a:p>
            <a:pPr algn="l" marL="576498" indent="-288249" lvl="1">
              <a:lnSpc>
                <a:spcPts val="3204"/>
              </a:lnSpc>
              <a:buFont typeface="Arial"/>
              <a:buChar char="•"/>
            </a:pPr>
            <a:r>
              <a:rPr lang="en-US" sz="2670">
                <a:solidFill>
                  <a:srgbClr val="000000"/>
                </a:solidFill>
                <a:latin typeface="Arial"/>
                <a:ea typeface="Arial"/>
                <a:cs typeface="Arial"/>
                <a:sym typeface="Arial"/>
              </a:rPr>
              <a:t>Problem Statement PDF – Official Challenge 7 problem statement</a:t>
            </a:r>
          </a:p>
          <a:p>
            <a:pPr algn="l" marL="576498" indent="-288249" lvl="1">
              <a:lnSpc>
                <a:spcPts val="3204"/>
              </a:lnSpc>
              <a:buFont typeface="Arial"/>
              <a:buChar char="•"/>
            </a:pPr>
            <a:r>
              <a:rPr lang="en-US" sz="2670">
                <a:solidFill>
                  <a:srgbClr val="000000"/>
                </a:solidFill>
                <a:latin typeface="Arial"/>
                <a:ea typeface="Arial"/>
                <a:cs typeface="Arial"/>
                <a:sym typeface="Arial"/>
              </a:rPr>
              <a:t>Project Presentation PPTX – Final hackathon presentation</a:t>
            </a:r>
          </a:p>
          <a:p>
            <a:pPr algn="l" marL="576498" indent="-288249" lvl="1">
              <a:lnSpc>
                <a:spcPts val="3204"/>
              </a:lnSpc>
              <a:buFont typeface="Arial"/>
              <a:buChar char="•"/>
            </a:pPr>
            <a:r>
              <a:rPr lang="en-US" sz="2670">
                <a:solidFill>
                  <a:srgbClr val="000000"/>
                </a:solidFill>
                <a:latin typeface="Arial"/>
                <a:ea typeface="Arial"/>
                <a:cs typeface="Arial"/>
                <a:sym typeface="Arial"/>
              </a:rPr>
              <a:t>Deployment Files – Deployed using Streamlit Community Cloud</a:t>
            </a:r>
          </a:p>
          <a:p>
            <a:pPr algn="l">
              <a:lnSpc>
                <a:spcPts val="3204"/>
              </a:lnSpc>
            </a:pPr>
          </a:p>
          <a:p>
            <a:pPr algn="l">
              <a:lnSpc>
                <a:spcPts val="3204"/>
              </a:lnSpc>
            </a:pPr>
            <a:r>
              <a:rPr lang="en-US" sz="2670">
                <a:solidFill>
                  <a:srgbClr val="000000"/>
                </a:solidFill>
                <a:latin typeface="Arial"/>
                <a:ea typeface="Arial"/>
                <a:cs typeface="Arial"/>
                <a:sym typeface="Arial"/>
              </a:rPr>
              <a:t>Working GitHub URL:</a:t>
            </a:r>
          </a:p>
          <a:p>
            <a:pPr algn="l">
              <a:lnSpc>
                <a:spcPts val="3204"/>
              </a:lnSpc>
            </a:pPr>
            <a:r>
              <a:rPr lang="en-US" sz="2670" u="sng">
                <a:solidFill>
                  <a:srgbClr val="000000"/>
                </a:solidFill>
                <a:latin typeface="Arial"/>
                <a:ea typeface="Arial"/>
                <a:cs typeface="Arial"/>
                <a:sym typeface="Arial"/>
                <a:hlinkClick r:id="rId4" tooltip="https://github.com/PrinceJain2006/floodguard-ai"/>
              </a:rPr>
              <a:t>https://github.com/PrinceJain2006/floodguard-ai</a:t>
            </a:r>
          </a:p>
          <a:p>
            <a:pPr algn="l">
              <a:lnSpc>
                <a:spcPts val="3204"/>
              </a:lnSpc>
            </a:pPr>
            <a:r>
              <a:rPr lang="en-US" sz="2670">
                <a:solidFill>
                  <a:srgbClr val="000000"/>
                </a:solidFill>
                <a:latin typeface="Arial"/>
                <a:ea typeface="Arial"/>
                <a:cs typeface="Arial"/>
                <a:sym typeface="Arial"/>
              </a:rPr>
              <a:t> </a:t>
            </a:r>
          </a:p>
          <a:p>
            <a:pPr algn="l">
              <a:lnSpc>
                <a:spcPts val="3204"/>
              </a:lnSpc>
            </a:pP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278628" y="2793274"/>
            <a:ext cx="5804244" cy="4362837"/>
          </a:xfrm>
          <a:custGeom>
            <a:avLst/>
            <a:gdLst/>
            <a:ahLst/>
            <a:cxnLst/>
            <a:rect r="r" b="b" t="t" l="l"/>
            <a:pathLst>
              <a:path h="4362837" w="5804244">
                <a:moveTo>
                  <a:pt x="0" y="0"/>
                </a:moveTo>
                <a:lnTo>
                  <a:pt x="5804244" y="0"/>
                </a:lnTo>
                <a:lnTo>
                  <a:pt x="5804244" y="4362837"/>
                </a:lnTo>
                <a:lnTo>
                  <a:pt x="0" y="4362837"/>
                </a:lnTo>
                <a:lnTo>
                  <a:pt x="0" y="0"/>
                </a:lnTo>
                <a:close/>
              </a:path>
            </a:pathLst>
          </a:custGeom>
          <a:blipFill>
            <a:blip r:embed="rId2"/>
            <a:stretch>
              <a:fillRect l="0" t="0" r="0" b="-3516"/>
            </a:stretch>
          </a:blipFill>
        </p:spPr>
      </p:sp>
      <p:sp>
        <p:nvSpPr>
          <p:cNvPr name="Freeform 3" id="3"/>
          <p:cNvSpPr/>
          <p:nvPr/>
        </p:nvSpPr>
        <p:spPr>
          <a:xfrm flipH="false" flipV="false" rot="0">
            <a:off x="171799" y="2793274"/>
            <a:ext cx="5872451" cy="4362837"/>
          </a:xfrm>
          <a:custGeom>
            <a:avLst/>
            <a:gdLst/>
            <a:ahLst/>
            <a:cxnLst/>
            <a:rect r="r" b="b" t="t" l="l"/>
            <a:pathLst>
              <a:path h="4362837" w="5872451">
                <a:moveTo>
                  <a:pt x="0" y="0"/>
                </a:moveTo>
                <a:lnTo>
                  <a:pt x="5872451" y="0"/>
                </a:lnTo>
                <a:lnTo>
                  <a:pt x="5872451" y="4362837"/>
                </a:lnTo>
                <a:lnTo>
                  <a:pt x="0" y="4362837"/>
                </a:lnTo>
                <a:lnTo>
                  <a:pt x="0" y="0"/>
                </a:lnTo>
                <a:close/>
              </a:path>
            </a:pathLst>
          </a:custGeom>
          <a:blipFill>
            <a:blip r:embed="rId3"/>
            <a:stretch>
              <a:fillRect l="0" t="0" r="0" b="0"/>
            </a:stretch>
          </a:blipFill>
        </p:spPr>
      </p:sp>
      <p:sp>
        <p:nvSpPr>
          <p:cNvPr name="Freeform 4" id="4"/>
          <p:cNvSpPr/>
          <p:nvPr/>
        </p:nvSpPr>
        <p:spPr>
          <a:xfrm flipH="false" flipV="false" rot="0">
            <a:off x="12320997" y="2793274"/>
            <a:ext cx="5923229" cy="4362837"/>
          </a:xfrm>
          <a:custGeom>
            <a:avLst/>
            <a:gdLst/>
            <a:ahLst/>
            <a:cxnLst/>
            <a:rect r="r" b="b" t="t" l="l"/>
            <a:pathLst>
              <a:path h="4362837" w="5923229">
                <a:moveTo>
                  <a:pt x="0" y="0"/>
                </a:moveTo>
                <a:lnTo>
                  <a:pt x="5923229" y="0"/>
                </a:lnTo>
                <a:lnTo>
                  <a:pt x="5923229" y="4362837"/>
                </a:lnTo>
                <a:lnTo>
                  <a:pt x="0" y="4362837"/>
                </a:lnTo>
                <a:lnTo>
                  <a:pt x="0" y="0"/>
                </a:lnTo>
                <a:close/>
              </a:path>
            </a:pathLst>
          </a:custGeom>
          <a:blipFill>
            <a:blip r:embed="rId4"/>
            <a:stretch>
              <a:fillRect l="0" t="0" r="0" b="0"/>
            </a:stretch>
          </a:blipFill>
        </p:spPr>
      </p:sp>
      <p:sp>
        <p:nvSpPr>
          <p:cNvPr name="TextBox 5" id="5"/>
          <p:cNvSpPr txBox="true"/>
          <p:nvPr/>
        </p:nvSpPr>
        <p:spPr>
          <a:xfrm rot="0">
            <a:off x="1028700" y="1009650"/>
            <a:ext cx="8961120" cy="638175"/>
          </a:xfrm>
          <a:prstGeom prst="rect">
            <a:avLst/>
          </a:prstGeom>
        </p:spPr>
        <p:txBody>
          <a:bodyPr anchor="t" rtlCol="false" tIns="0" lIns="0" bIns="0" rIns="0">
            <a:spAutoFit/>
          </a:bodyPr>
          <a:lstStyle/>
          <a:p>
            <a:pPr algn="l">
              <a:lnSpc>
                <a:spcPts val="4919"/>
              </a:lnSpc>
            </a:pPr>
            <a:r>
              <a:rPr lang="en-US" b="true" sz="4099" u="sng">
                <a:solidFill>
                  <a:srgbClr val="000000"/>
                </a:solidFill>
                <a:latin typeface="Arial Bold"/>
                <a:ea typeface="Arial Bold"/>
                <a:cs typeface="Arial Bold"/>
                <a:sym typeface="Arial Bold"/>
              </a:rPr>
              <a:t>Certificates Earned:</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289385" y="3388345"/>
            <a:ext cx="5709230" cy="3510309"/>
          </a:xfrm>
          <a:custGeom>
            <a:avLst/>
            <a:gdLst/>
            <a:ahLst/>
            <a:cxnLst/>
            <a:rect r="r" b="b" t="t" l="l"/>
            <a:pathLst>
              <a:path h="3510309" w="5709230">
                <a:moveTo>
                  <a:pt x="0" y="0"/>
                </a:moveTo>
                <a:lnTo>
                  <a:pt x="5709230" y="0"/>
                </a:lnTo>
                <a:lnTo>
                  <a:pt x="5709230" y="3510310"/>
                </a:lnTo>
                <a:lnTo>
                  <a:pt x="0" y="3510310"/>
                </a:lnTo>
                <a:lnTo>
                  <a:pt x="0" y="0"/>
                </a:lnTo>
                <a:close/>
              </a:path>
            </a:pathLst>
          </a:custGeom>
          <a:blipFill>
            <a:blip r:embed="rId2"/>
            <a:stretch>
              <a:fillRect l="0" t="0" r="0" b="-1320"/>
            </a:stretch>
          </a:blipFill>
        </p:spPr>
      </p:sp>
      <p:sp>
        <p:nvSpPr>
          <p:cNvPr name="Freeform 3" id="3"/>
          <p:cNvSpPr/>
          <p:nvPr/>
        </p:nvSpPr>
        <p:spPr>
          <a:xfrm flipH="false" flipV="false" rot="0">
            <a:off x="356483" y="3388345"/>
            <a:ext cx="5713384" cy="3510309"/>
          </a:xfrm>
          <a:custGeom>
            <a:avLst/>
            <a:gdLst/>
            <a:ahLst/>
            <a:cxnLst/>
            <a:rect r="r" b="b" t="t" l="l"/>
            <a:pathLst>
              <a:path h="3510309" w="5713384">
                <a:moveTo>
                  <a:pt x="0" y="0"/>
                </a:moveTo>
                <a:lnTo>
                  <a:pt x="5713384" y="0"/>
                </a:lnTo>
                <a:lnTo>
                  <a:pt x="5713384" y="3510310"/>
                </a:lnTo>
                <a:lnTo>
                  <a:pt x="0" y="3510310"/>
                </a:lnTo>
                <a:lnTo>
                  <a:pt x="0" y="0"/>
                </a:lnTo>
                <a:close/>
              </a:path>
            </a:pathLst>
          </a:custGeom>
          <a:blipFill>
            <a:blip r:embed="rId3"/>
            <a:stretch>
              <a:fillRect l="0" t="0" r="0" b="0"/>
            </a:stretch>
          </a:blipFill>
        </p:spPr>
      </p:sp>
      <p:sp>
        <p:nvSpPr>
          <p:cNvPr name="Freeform 4" id="4"/>
          <p:cNvSpPr/>
          <p:nvPr/>
        </p:nvSpPr>
        <p:spPr>
          <a:xfrm flipH="false" flipV="false" rot="0">
            <a:off x="12217690" y="3388345"/>
            <a:ext cx="5687339" cy="3510309"/>
          </a:xfrm>
          <a:custGeom>
            <a:avLst/>
            <a:gdLst/>
            <a:ahLst/>
            <a:cxnLst/>
            <a:rect r="r" b="b" t="t" l="l"/>
            <a:pathLst>
              <a:path h="3510309" w="5687339">
                <a:moveTo>
                  <a:pt x="0" y="0"/>
                </a:moveTo>
                <a:lnTo>
                  <a:pt x="5687339" y="0"/>
                </a:lnTo>
                <a:lnTo>
                  <a:pt x="5687339" y="3510310"/>
                </a:lnTo>
                <a:lnTo>
                  <a:pt x="0" y="3510310"/>
                </a:lnTo>
                <a:lnTo>
                  <a:pt x="0" y="0"/>
                </a:lnTo>
                <a:close/>
              </a:path>
            </a:pathLst>
          </a:custGeom>
          <a:blipFill>
            <a:blip r:embed="rId4"/>
            <a:stretch>
              <a:fillRect l="0" t="0" r="-5678" b="0"/>
            </a:stretch>
          </a:blipFill>
        </p:spPr>
      </p:sp>
      <p:sp>
        <p:nvSpPr>
          <p:cNvPr name="TextBox 5" id="5"/>
          <p:cNvSpPr txBox="true"/>
          <p:nvPr/>
        </p:nvSpPr>
        <p:spPr>
          <a:xfrm rot="0">
            <a:off x="563771" y="1000125"/>
            <a:ext cx="8961120" cy="1114425"/>
          </a:xfrm>
          <a:prstGeom prst="rect">
            <a:avLst/>
          </a:prstGeom>
        </p:spPr>
        <p:txBody>
          <a:bodyPr anchor="t" rtlCol="false" tIns="0" lIns="0" bIns="0" rIns="0">
            <a:spAutoFit/>
          </a:bodyPr>
          <a:lstStyle/>
          <a:p>
            <a:pPr algn="l">
              <a:lnSpc>
                <a:spcPts val="4320"/>
              </a:lnSpc>
            </a:pPr>
            <a:r>
              <a:rPr lang="en-US" b="true" sz="3600" u="sng">
                <a:solidFill>
                  <a:srgbClr val="000000"/>
                </a:solidFill>
                <a:latin typeface="Arial Bold"/>
                <a:ea typeface="Arial Bold"/>
                <a:cs typeface="Arial Bold"/>
                <a:sym typeface="Arial Bold"/>
              </a:rPr>
              <a:t>Certificates Earned:</a:t>
            </a:r>
            <a:r>
              <a:rPr lang="en-US" sz="3600" u="sng">
                <a:solidFill>
                  <a:srgbClr val="000000"/>
                </a:solidFill>
                <a:latin typeface="Arial"/>
                <a:ea typeface="Arial"/>
                <a:cs typeface="Arial"/>
                <a:sym typeface="Arial"/>
              </a:rPr>
              <a:t>​</a:t>
            </a:r>
          </a:p>
          <a:p>
            <a:pPr algn="ctr">
              <a:lnSpc>
                <a:spcPts val="4320"/>
              </a:lnSpc>
            </a:pP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20331" y="2754504"/>
            <a:ext cx="18288000" cy="3716093"/>
            <a:chOff x="0" y="0"/>
            <a:chExt cx="24384000" cy="4954791"/>
          </a:xfrm>
        </p:grpSpPr>
        <p:sp>
          <p:nvSpPr>
            <p:cNvPr name="Freeform 3" id="3"/>
            <p:cNvSpPr/>
            <p:nvPr/>
          </p:nvSpPr>
          <p:spPr>
            <a:xfrm flipH="false" flipV="false" rot="0">
              <a:off x="0" y="0"/>
              <a:ext cx="24384000" cy="4954778"/>
            </a:xfrm>
            <a:custGeom>
              <a:avLst/>
              <a:gdLst/>
              <a:ahLst/>
              <a:cxnLst/>
              <a:rect r="r" b="b" t="t" l="l"/>
              <a:pathLst>
                <a:path h="4954778" w="24384000">
                  <a:moveTo>
                    <a:pt x="0" y="0"/>
                  </a:moveTo>
                  <a:lnTo>
                    <a:pt x="24384000" y="0"/>
                  </a:lnTo>
                  <a:lnTo>
                    <a:pt x="24384000" y="4954778"/>
                  </a:lnTo>
                  <a:lnTo>
                    <a:pt x="0" y="4954778"/>
                  </a:lnTo>
                  <a:lnTo>
                    <a:pt x="0" y="0"/>
                  </a:lnTo>
                  <a:close/>
                </a:path>
              </a:pathLst>
            </a:custGeom>
            <a:blipFill>
              <a:blip r:embed="rId3"/>
              <a:stretch>
                <a:fillRect l="0" t="0" r="0" b="0"/>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DAHR-OZrWic</dc:identifier>
  <dcterms:modified xsi:type="dcterms:W3CDTF">2011-08-01T06:04:30Z</dcterms:modified>
  <cp:revision>1</cp:revision>
  <dc:title>FLOODGUARD_AI_Hackathon_Submission.pptx</dc:title>
</cp:coreProperties>
</file>